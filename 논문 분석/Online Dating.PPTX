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D7D29F-C923-4482-B273-A3C5A5F639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E1E848C-C00A-4A43-93EE-1616C3B61A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6D35F4-A23A-4EAF-9D80-82574F238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D9079-FC6B-471D-8E28-225B338EFB9C}" type="datetimeFigureOut">
              <a:rPr lang="ko-KR" altLang="en-US" smtClean="0"/>
              <a:t>2021-03-16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9C2C13-A6FE-4237-B335-67680C1C2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FFD8F0-EA8B-4201-8A2D-AC43E77C8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B6168-B9C4-4228-ABF2-F99AB43955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4166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067EA7-3572-4105-9FF2-DD6DCB83C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07E7D0-2F09-45C0-AF60-CB40809321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752BA4-01E3-46E4-8A31-1290E8A65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D9079-FC6B-471D-8E28-225B338EFB9C}" type="datetimeFigureOut">
              <a:rPr lang="ko-KR" altLang="en-US" smtClean="0"/>
              <a:t>2021-03-16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C17235-1059-4AD6-833A-7283095B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9E0FDF-0946-4ED8-B9F4-D87B2DFFF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B6168-B9C4-4228-ABF2-F99AB43955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874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CCEE7F-8A52-412B-8E2F-A31C68BD3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93835A-6549-4C1B-8F8E-3FC9AEC1E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0842E3-6DC6-4E5C-AAEB-57FC1E099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D9079-FC6B-471D-8E28-225B338EFB9C}" type="datetimeFigureOut">
              <a:rPr lang="ko-KR" altLang="en-US" smtClean="0"/>
              <a:t>2021-03-16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98EE3C-C725-4C3F-8E6B-F35BC9BD9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5985D4-1434-4301-8434-185AD0A21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B6168-B9C4-4228-ABF2-F99AB43955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9574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2E90C7-C2F0-4189-A1B8-3543C681B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811BBA-5FE3-47EA-8698-7F3A8B65F5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1B76FF-70CD-47BD-A7C7-ADBE5CE87E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C3711E-4B80-4C7E-8BCA-B04B80FAD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D9079-FC6B-471D-8E28-225B338EFB9C}" type="datetimeFigureOut">
              <a:rPr lang="ko-KR" altLang="en-US" smtClean="0"/>
              <a:t>2021-03-16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59B37A-49D6-41AF-9A29-520D484DD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F7C449-ED71-4DFD-9BD3-FD168E3F2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B6168-B9C4-4228-ABF2-F99AB43955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8495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7BF425-BFC1-460C-B86C-1D4181F37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F4EB8C-F709-45B7-B6C2-A3D091886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F5E8DEB-F3A3-43BE-8516-35A4A8E4B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BABB15F-7F00-496A-8B2A-64184552E9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4688B6D-59F1-4222-BF46-7A48B65530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CA4A8FD-84D6-4A35-BCB9-D71B089BD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D9079-FC6B-471D-8E28-225B338EFB9C}" type="datetimeFigureOut">
              <a:rPr lang="ko-KR" altLang="en-US" smtClean="0"/>
              <a:t>2021-03-16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B8EA7C2-D805-4EE4-8A3B-29E93E45D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8372B8F-D80A-463A-AC96-219F8CADF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B6168-B9C4-4228-ABF2-F99AB43955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7970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97946E-16A5-4BD3-ABAA-96470CCB1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7BEC3E8-B5BF-49E4-8106-B3F889ECE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D9079-FC6B-471D-8E28-225B338EFB9C}" type="datetimeFigureOut">
              <a:rPr lang="ko-KR" altLang="en-US" smtClean="0"/>
              <a:t>2021-03-16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D181E1B-7375-4DDD-8CA2-1F166FDDD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F53193F-AA76-4778-A9BF-5E94CB5E1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B6168-B9C4-4228-ABF2-F99AB43955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7514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867C3CF-A5FF-4BDF-A8C4-51BFF0196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D9079-FC6B-471D-8E28-225B338EFB9C}" type="datetimeFigureOut">
              <a:rPr lang="ko-KR" altLang="en-US" smtClean="0"/>
              <a:t>2021-03-16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8E9D669-E3D4-483B-AA45-22BC5B0F8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33C442-2416-4AE2-99F3-9B4B23070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B6168-B9C4-4228-ABF2-F99AB43955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5728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D7B197-1B4B-4FED-848B-0CF8E3F84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21FA6D-DC48-4636-80A0-EF2A14842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18CDF11-3DA8-4E0C-B120-E756413593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6168E37-CE55-4445-9C78-5E0E34CC1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D9079-FC6B-471D-8E28-225B338EFB9C}" type="datetimeFigureOut">
              <a:rPr lang="ko-KR" altLang="en-US" smtClean="0"/>
              <a:t>2021-03-16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4965D3B-B885-4A74-914E-6C9711A1A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5B9E37-44D6-4239-BAFF-65945954E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B6168-B9C4-4228-ABF2-F99AB43955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9275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8A378B-9DE6-44BD-8041-A873146BD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28F2D2-051A-4582-9C63-ABB0EDE26F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EB3805-89AF-47FA-A32A-A74DFB2072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66A2881-84FE-4519-B040-AB085256A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D9079-FC6B-471D-8E28-225B338EFB9C}" type="datetimeFigureOut">
              <a:rPr lang="ko-KR" altLang="en-US" smtClean="0"/>
              <a:t>2021-03-16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DC2875-1301-4840-BCEF-31B52359B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19FE714-5DA7-4FEE-B2E9-7E93DD872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B6168-B9C4-4228-ABF2-F99AB43955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5958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C75D67-BAEC-47E1-BC2F-08DF7FE04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D3FC7C2-88C9-47F1-950E-9A1B473748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3370BF-6139-4F80-BA94-EC78D9204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D9079-FC6B-471D-8E28-225B338EFB9C}" type="datetimeFigureOut">
              <a:rPr lang="ko-KR" altLang="en-US" smtClean="0"/>
              <a:t>2021-03-16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CA16E3-4400-4115-B332-94880440F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A899B5-B920-421B-8B92-141540D8D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B6168-B9C4-4228-ABF2-F99AB43955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3330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A92C44A-B01D-481B-8B3B-D845541CDB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B6807CA-7B14-47E8-A456-80861BDDE0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6AC48F-C0B3-4BC9-94C0-CECF6EDFF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D9079-FC6B-471D-8E28-225B338EFB9C}" type="datetimeFigureOut">
              <a:rPr lang="ko-KR" altLang="en-US" smtClean="0"/>
              <a:t>2021-03-16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F1ECF4-7D91-41FA-B4E6-AAF0C529D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338FB1-5818-47D7-8917-426AC947D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B6168-B9C4-4228-ABF2-F99AB43955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4405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1CA904-C2AE-431F-9CD5-AF8684142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5085CE-59C7-4A7D-A87F-F369B48B5A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8436AF-D935-4C99-8176-E0BE28871D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3D9079-FC6B-471D-8E28-225B338EFB9C}" type="datetimeFigureOut">
              <a:rPr lang="ko-KR" altLang="en-US" smtClean="0"/>
              <a:t>2021-03-16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1FAD19-9E7C-4398-AEED-92FADF15CB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26E4D7-DD38-4D2E-B16F-C2E424B434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B6168-B9C4-4228-ABF2-F99AB43955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1736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128D6C-7903-4294-A8FC-D663916C86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New to Online Dating? Learning from Experienced Users for a Successful Match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6388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57C7BC-891D-404F-8414-2BCC1B96F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B044E1-D0B9-43E1-81F9-C4C91A4EC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ko-KR" altLang="en-US" dirty="0"/>
              <a:t>데이팅 사이트들이 추천 시스템을 채용하기 시작했다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온라인 데이팅에 쓰이는 추천 시스템은 상호성을 가진다</a:t>
            </a:r>
            <a:r>
              <a:rPr lang="en-US" altLang="ko-KR" dirty="0"/>
              <a:t>. </a:t>
            </a:r>
            <a:r>
              <a:rPr lang="ko-KR" altLang="en-US" dirty="0"/>
              <a:t>두 유저가 서로 만나는 것에 동의해야 하기 때문이다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기존의 추천 시스템은 </a:t>
            </a:r>
            <a:r>
              <a:rPr lang="en-US" altLang="ko-KR" dirty="0"/>
              <a:t>cold start problem</a:t>
            </a:r>
            <a:r>
              <a:rPr lang="ko-KR" altLang="en-US" dirty="0"/>
              <a:t>을 가진다</a:t>
            </a:r>
            <a:r>
              <a:rPr lang="en-US" altLang="ko-KR" dirty="0"/>
              <a:t>. </a:t>
            </a:r>
            <a:r>
              <a:rPr lang="ko-KR" altLang="en-US" dirty="0"/>
              <a:t>처음 가입한 유저는 활동 기록 등이 없기 때문에</a:t>
            </a:r>
            <a:r>
              <a:rPr lang="en-US" altLang="ko-KR" dirty="0"/>
              <a:t>, </a:t>
            </a:r>
            <a:r>
              <a:rPr lang="ko-KR" altLang="en-US" dirty="0"/>
              <a:t>기존 유저와 연결되기 어렵다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새로운 유저에게 </a:t>
            </a:r>
            <a:r>
              <a:rPr lang="en-US" altLang="ko-KR" dirty="0"/>
              <a:t>reciprocal</a:t>
            </a:r>
            <a:r>
              <a:rPr lang="ko-KR" altLang="en-US" dirty="0"/>
              <a:t>한 추천을 하기 위해</a:t>
            </a:r>
            <a:r>
              <a:rPr lang="en-US" altLang="ko-KR" dirty="0"/>
              <a:t>, community detection</a:t>
            </a:r>
            <a:r>
              <a:rPr lang="ko-KR" altLang="en-US" dirty="0"/>
              <a:t>을 통해 비슷한 유저 그룹을 찾는다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신규 유저가 관심 있는 여자들이</a:t>
            </a:r>
            <a:r>
              <a:rPr lang="en-US" altLang="ko-KR" dirty="0"/>
              <a:t>, community</a:t>
            </a:r>
            <a:r>
              <a:rPr lang="ko-KR" altLang="en-US" dirty="0"/>
              <a:t>의 남자 중 몇 명에게 관심을 보이는 </a:t>
            </a:r>
            <a:r>
              <a:rPr lang="ko-KR" altLang="en-US"/>
              <a:t>지를 통해 </a:t>
            </a:r>
            <a:r>
              <a:rPr lang="ko-KR" altLang="en-US" dirty="0"/>
              <a:t>그들이 신규 유저에게 얼마나 관심을 보일 지도 예측할 수 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1674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3DB768-1DEE-41CD-96D2-D230CCE99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Extracting</a:t>
            </a:r>
            <a:r>
              <a:rPr lang="ko-KR" altLang="en-US" sz="4000" dirty="0"/>
              <a:t> </a:t>
            </a:r>
            <a:r>
              <a:rPr lang="en-US" altLang="ko-KR" sz="4000" dirty="0"/>
              <a:t>Communities</a:t>
            </a:r>
            <a:r>
              <a:rPr lang="ko-KR" altLang="en-US" sz="4000" dirty="0"/>
              <a:t> </a:t>
            </a:r>
            <a:r>
              <a:rPr lang="en-US" altLang="ko-KR" sz="4000" dirty="0"/>
              <a:t>of</a:t>
            </a:r>
            <a:r>
              <a:rPr lang="ko-KR" altLang="en-US" sz="4000" dirty="0"/>
              <a:t> </a:t>
            </a:r>
            <a:r>
              <a:rPr lang="en-US" altLang="ko-KR" sz="4000" dirty="0"/>
              <a:t>Existing Users</a:t>
            </a:r>
            <a:endParaRPr lang="ko-KR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A633658-20E2-41DD-971E-439B23284D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ko-KR" altLang="en-US" dirty="0"/>
                  <a:t>첫 번째 단계는 기존 유저들을 그룹으로 나누는 것이다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먼저 남녀를 나누어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각각 </a:t>
                </a:r>
                <a:r>
                  <a:rPr lang="en-US" altLang="ko-KR" dirty="0"/>
                  <a:t>social network</a:t>
                </a:r>
                <a:r>
                  <a:rPr lang="ko-KR" altLang="en-US" dirty="0"/>
                  <a:t>를 만든다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즉 유저를 </a:t>
                </a:r>
                <a:r>
                  <a:rPr lang="en-US" altLang="ko-KR" dirty="0"/>
                  <a:t>node</a:t>
                </a:r>
                <a:r>
                  <a:rPr lang="ko-KR" altLang="en-US" dirty="0"/>
                  <a:t>로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표현하고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이를 </a:t>
                </a:r>
                <a:r>
                  <a:rPr lang="en-US" altLang="ko-KR" dirty="0"/>
                  <a:t>edge</a:t>
                </a:r>
                <a:r>
                  <a:rPr lang="ko-KR" altLang="en-US" dirty="0"/>
                  <a:t>로 잇는다</a:t>
                </a:r>
                <a:r>
                  <a:rPr lang="en-US" altLang="ko-KR" dirty="0"/>
                  <a:t>.</a:t>
                </a:r>
                <a:r>
                  <a:rPr lang="ko-KR" altLang="en-US" dirty="0"/>
                  <a:t> 남자 유저들의 네트워크를 </a:t>
                </a:r>
                <a:r>
                  <a:rPr lang="en-US" altLang="ko-KR" dirty="0"/>
                  <a:t>G={V, E}</a:t>
                </a:r>
                <a:r>
                  <a:rPr lang="ko-KR" altLang="en-US" dirty="0"/>
                  <a:t>라 하자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남자 </a:t>
                </a:r>
                <a:r>
                  <a:rPr lang="en-US" altLang="ko-KR" dirty="0"/>
                  <a:t>x</a:t>
                </a:r>
                <a:r>
                  <a:rPr lang="ko-KR" altLang="en-US" dirty="0"/>
                  <a:t>에 대해</a:t>
                </a:r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ko-KR" dirty="0"/>
                  <a:t>: x</a:t>
                </a:r>
                <a:r>
                  <a:rPr lang="ko-KR" altLang="en-US" dirty="0"/>
                  <a:t>가 연락하거나 </a:t>
                </a:r>
                <a:r>
                  <a:rPr lang="en-US" altLang="ko-KR" dirty="0"/>
                  <a:t>x</a:t>
                </a:r>
                <a:r>
                  <a:rPr lang="ko-KR" altLang="en-US" dirty="0"/>
                  <a:t>에게 연락해 답을 받은 여자의 집합이라 하자</a:t>
                </a:r>
                <a:r>
                  <a:rPr lang="en-US" altLang="ko-KR" dirty="0"/>
                  <a:t>.</a:t>
                </a:r>
              </a:p>
              <a:p>
                <a:r>
                  <a:rPr lang="en-US" altLang="ko-KR" dirty="0"/>
                  <a:t>Edge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무게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∩</m:t>
                            </m:r>
                            <m:sSub>
                              <m:sSub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∪</m:t>
                            </m:r>
                            <m:sSub>
                              <m:sSub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r>
                  <a:rPr lang="en-US" altLang="ko-KR" dirty="0"/>
                  <a:t>. x</a:t>
                </a:r>
                <a:r>
                  <a:rPr lang="ko-KR" altLang="en-US" dirty="0"/>
                  <a:t>와 </a:t>
                </a:r>
                <a:r>
                  <a:rPr lang="en-US" altLang="ko-KR" dirty="0"/>
                  <a:t>y</a:t>
                </a:r>
                <a:r>
                  <a:rPr lang="ko-KR" altLang="en-US" dirty="0"/>
                  <a:t>의 연락의 유사도이다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무게가 </a:t>
                </a:r>
                <a:r>
                  <a:rPr lang="en-US" altLang="ko-KR" dirty="0"/>
                  <a:t>0</a:t>
                </a:r>
                <a:r>
                  <a:rPr lang="ko-KR" altLang="en-US" dirty="0"/>
                  <a:t>인 </a:t>
                </a:r>
                <a:r>
                  <a:rPr lang="en-US" altLang="ko-KR" dirty="0"/>
                  <a:t>edge</a:t>
                </a:r>
                <a:r>
                  <a:rPr lang="ko-KR" altLang="en-US" dirty="0"/>
                  <a:t>는 모두 제거하자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이렇게 나온 그래프 </a:t>
                </a:r>
                <a:r>
                  <a:rPr lang="en-US" altLang="ko-KR" dirty="0"/>
                  <a:t>G</a:t>
                </a:r>
                <a:r>
                  <a:rPr lang="ko-KR" altLang="en-US" dirty="0"/>
                  <a:t>를 알고리즘에 넣으면</a:t>
                </a:r>
                <a:r>
                  <a:rPr lang="en-US" altLang="ko-KR" dirty="0"/>
                  <a:t>, community</a:t>
                </a:r>
                <a:r>
                  <a:rPr lang="ko-KR" altLang="en-US" dirty="0"/>
                  <a:t>의 집합 </a:t>
                </a:r>
                <a:r>
                  <a:rPr lang="en-US" altLang="ko-KR" dirty="0"/>
                  <a:t>T</a:t>
                </a:r>
                <a:r>
                  <a:rPr lang="ko-KR" altLang="en-US" dirty="0"/>
                  <a:t>를 구할 수 있다</a:t>
                </a:r>
                <a:r>
                  <a:rPr lang="en-US" altLang="ko-KR" dirty="0"/>
                  <a:t>.</a:t>
                </a:r>
              </a:p>
              <a:p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A633658-20E2-41DD-971E-439B23284D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361" r="-1043" b="-29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438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D096D5-9F8F-4EFD-AF26-8FDC3B43D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Finding Reciprocal Contacts for Communities</a:t>
            </a:r>
            <a:endParaRPr lang="ko-KR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C3500C6-371A-4FF6-9AB9-D0D2986DA5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남자 </a:t>
                </a:r>
                <a:r>
                  <a:rPr lang="en-US" altLang="ko-KR" dirty="0"/>
                  <a:t>x</a:t>
                </a:r>
                <a:r>
                  <a:rPr lang="ko-KR" altLang="en-US" dirty="0"/>
                  <a:t>에 대해</a:t>
                </a:r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𝐶𝑅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ko-KR" dirty="0"/>
                  <a:t>: x</a:t>
                </a:r>
                <a:r>
                  <a:rPr lang="ko-KR" altLang="en-US" dirty="0"/>
                  <a:t>가 연락하여 답장해준 여자들의 집합</a:t>
                </a:r>
                <a:endParaRPr lang="en-US" altLang="ko-K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: t</a:t>
                </a:r>
                <a:r>
                  <a:rPr lang="ko-KR" altLang="en-US" dirty="0"/>
                  <a:t>에 속한 남자 </a:t>
                </a:r>
                <a:r>
                  <a:rPr lang="en-US" altLang="ko-KR" dirty="0"/>
                  <a:t>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dirty="0"/>
                  <a:t>에 속한 남자 중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𝐶𝑅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ko-KR" altLang="en-US" dirty="0"/>
                  <a:t> 여자 </a:t>
                </a:r>
                <a:r>
                  <a:rPr lang="en-US" altLang="ko-KR" dirty="0"/>
                  <a:t>u</a:t>
                </a:r>
                <a:r>
                  <a:rPr lang="ko-KR" altLang="en-US" dirty="0"/>
                  <a:t>와 연락한 유저의 수</a:t>
                </a:r>
                <a:endParaRPr lang="en-US" altLang="ko-KR" dirty="0"/>
              </a:p>
              <a:p>
                <a:r>
                  <a:rPr lang="ko-KR" altLang="en-US" dirty="0"/>
                  <a:t>커뮤니티 </a:t>
                </a:r>
                <a:r>
                  <a:rPr lang="en-US" altLang="ko-KR" dirty="0"/>
                  <a:t>t</a:t>
                </a:r>
                <a:r>
                  <a:rPr lang="ko-KR" altLang="en-US" dirty="0"/>
                  <a:t>에 대해</a:t>
                </a:r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nary>
                      <m:naryPr>
                        <m:chr m:val="⋃"/>
                        <m:sup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  <m:sup/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𝐶𝑅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즉 </a:t>
                </a:r>
                <a:r>
                  <a:rPr lang="en-US" altLang="ko-KR" dirty="0"/>
                  <a:t>x</a:t>
                </a:r>
                <a:r>
                  <a:rPr lang="ko-KR" altLang="en-US" dirty="0"/>
                  <a:t>가 관심 있는 여자들 중 누가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dirty="0"/>
                  <a:t>에 속한 남자들과 얼마나 교류가 있었는 지 나타내는 지표이다</a:t>
                </a:r>
                <a:r>
                  <a:rPr lang="en-US" altLang="ko-KR" dirty="0"/>
                  <a:t>.</a:t>
                </a:r>
              </a:p>
              <a:p>
                <a:r>
                  <a:rPr lang="en-US" altLang="ko-KR" dirty="0"/>
                  <a:t>R={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b="0" dirty="0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ko-KR" dirty="0"/>
                  <a:t>}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C3500C6-371A-4FF6-9AB9-D0D2986DA5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10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9928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368E06-4BC3-4A31-9AD4-0494730F8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Generating Community Profile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7C3DECD-387F-47C9-9EFB-9FFAC7EA29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키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인종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등 특징들의 목록을 </a:t>
                </a:r>
                <a:r>
                  <a:rPr lang="en-US" altLang="ko-KR" dirty="0"/>
                  <a:t>A</a:t>
                </a:r>
                <a:r>
                  <a:rPr lang="ko-KR" altLang="en-US" dirty="0"/>
                  <a:t>라 하자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유저 </a:t>
                </a:r>
                <a:r>
                  <a:rPr lang="en-US" altLang="ko-KR" dirty="0"/>
                  <a:t>x</a:t>
                </a:r>
                <a:r>
                  <a:rPr lang="ko-KR" altLang="en-US" dirty="0"/>
                  <a:t>의 프로필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𝑣𝑎𝑙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𝑎𝑙𝑙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𝑎𝑡𝑡𝑟𝑖𝑏𝑢𝑡𝑒𝑠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𝑣𝑎𝑙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altLang="ko-KR" dirty="0"/>
                  <a:t>: a</a:t>
                </a:r>
                <a:r>
                  <a:rPr lang="ko-KR" altLang="en-US" dirty="0"/>
                  <a:t>에 대한 값</a:t>
                </a:r>
                <a:endParaRPr lang="en-US" altLang="ko-KR" dirty="0"/>
              </a:p>
              <a:p>
                <a:r>
                  <a:rPr lang="en-US" altLang="ko-KR" dirty="0"/>
                  <a:t>Community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profile</a:t>
                </a:r>
                <a:r>
                  <a:rPr lang="ko-KR" altLang="en-US" dirty="0"/>
                  <a:t>은 다음과 같다</a:t>
                </a:r>
                <a:r>
                  <a:rPr lang="en-US" altLang="ko-KR" dirty="0"/>
                  <a:t>.</a:t>
                </a:r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𝑣𝑎𝑙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𝑎𝑙𝑙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𝑢𝑛𝑖𝑞𝑢𝑒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𝑑𝑖𝑠𝑐𝑟𝑒𝑡𝑒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𝑣𝑎𝑙𝑢𝑒𝑠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𝑣𝑎𝑙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7C3DECD-387F-47C9-9EFB-9FFAC7EA29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8486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94DA19-1F6A-40EC-B828-D41CBEF39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Calculating Similarities Between </a:t>
            </a:r>
            <a:br>
              <a:rPr lang="en-US" altLang="ko-KR" dirty="0"/>
            </a:br>
            <a:r>
              <a:rPr lang="en-US" altLang="ko-KR" dirty="0"/>
              <a:t>New Users and Communities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BD12D1-A82A-43E5-814A-02D0FAD5D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Cold</a:t>
            </a:r>
            <a:r>
              <a:rPr lang="ko-KR" altLang="en-US" dirty="0"/>
              <a:t> </a:t>
            </a:r>
            <a:r>
              <a:rPr lang="en-US" altLang="ko-KR" dirty="0"/>
              <a:t>start</a:t>
            </a:r>
            <a:r>
              <a:rPr lang="ko-KR" altLang="en-US" dirty="0"/>
              <a:t> </a:t>
            </a:r>
            <a:r>
              <a:rPr lang="en-US" altLang="ko-KR" dirty="0"/>
              <a:t>problem</a:t>
            </a:r>
            <a:r>
              <a:rPr lang="ko-KR" altLang="en-US" dirty="0"/>
              <a:t>을 해결하기 위해서</a:t>
            </a:r>
            <a:r>
              <a:rPr lang="en-US" altLang="ko-KR" dirty="0"/>
              <a:t>, </a:t>
            </a:r>
            <a:r>
              <a:rPr lang="ko-KR" altLang="en-US" dirty="0"/>
              <a:t>새로운 유저 </a:t>
            </a:r>
            <a:r>
              <a:rPr lang="en-US" altLang="ko-KR" dirty="0"/>
              <a:t>x</a:t>
            </a:r>
            <a:r>
              <a:rPr lang="ko-KR" altLang="en-US" dirty="0"/>
              <a:t>와 기존 커뮤니티 </a:t>
            </a:r>
            <a:r>
              <a:rPr lang="en-US" altLang="ko-KR" dirty="0"/>
              <a:t>t </a:t>
            </a:r>
            <a:r>
              <a:rPr lang="ko-KR" altLang="en-US" dirty="0"/>
              <a:t>사이의 유사도를 구해야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이를 </a:t>
            </a:r>
            <a:r>
              <a:rPr lang="en-US" altLang="ko-KR" dirty="0"/>
              <a:t>Sim(</a:t>
            </a:r>
            <a:r>
              <a:rPr lang="en-US" altLang="ko-KR" dirty="0" err="1"/>
              <a:t>x,t</a:t>
            </a:r>
            <a:r>
              <a:rPr lang="en-US" altLang="ko-KR" dirty="0"/>
              <a:t>)</a:t>
            </a:r>
            <a:r>
              <a:rPr lang="ko-KR" altLang="en-US" dirty="0"/>
              <a:t>로 나타낼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이는 </a:t>
            </a:r>
            <a:r>
              <a:rPr lang="en-US" altLang="ko-KR" dirty="0"/>
              <a:t>content-based </a:t>
            </a:r>
            <a:r>
              <a:rPr lang="ko-KR" altLang="en-US" dirty="0"/>
              <a:t>추천 시스템의 개념과 비슷하다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42035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860DA5-BCC7-4BC2-9C69-7C27FC845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Recommendation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7DEB7C9-51C3-4444-92D6-83565B3173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ko-KR" altLang="en-US" dirty="0"/>
                  <a:t>다음과 같은 알고리즘을 사용한다</a:t>
                </a:r>
                <a:r>
                  <a:rPr lang="en-US" altLang="ko-KR" dirty="0"/>
                  <a:t>.</a:t>
                </a:r>
              </a:p>
              <a:p>
                <a:r>
                  <a:rPr lang="en-US" altLang="ko-KR" dirty="0"/>
                  <a:t>Input: Existing User x, New User y, Community Profile P, Reciprocal Contact Distribution R</a:t>
                </a:r>
              </a:p>
              <a:p>
                <a:r>
                  <a:rPr lang="en-US" altLang="ko-KR" dirty="0"/>
                  <a:t>Output: Recommending score RS(x, t)</a:t>
                </a:r>
              </a:p>
              <a:p>
                <a:pPr marL="0" indent="0">
                  <a:buNone/>
                </a:pPr>
                <a:r>
                  <a:rPr lang="en-US" altLang="ko-KR" dirty="0"/>
                  <a:t>RS(</a:t>
                </a:r>
                <a:r>
                  <a:rPr lang="en-US" altLang="ko-KR" dirty="0" err="1"/>
                  <a:t>x,y</a:t>
                </a:r>
                <a:r>
                  <a:rPr lang="en-US" altLang="ko-KR" dirty="0"/>
                  <a:t>)=0</a:t>
                </a:r>
              </a:p>
              <a:p>
                <a:pPr marL="0" indent="0">
                  <a:buNone/>
                </a:pPr>
                <a:r>
                  <a:rPr lang="en-US" altLang="ko-KR" dirty="0"/>
                  <a:t>for each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do</a:t>
                </a:r>
              </a:p>
              <a:p>
                <a:pPr marL="0" indent="0">
                  <a:buNone/>
                </a:pPr>
                <a:r>
                  <a:rPr lang="en-US" altLang="ko-KR" dirty="0"/>
                  <a:t>	Calculate s = Sim(y,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dirty="0"/>
                  <a:t>)</a:t>
                </a:r>
              </a:p>
              <a:p>
                <a:pPr marL="0" indent="0">
                  <a:buNone/>
                </a:pPr>
                <a:r>
                  <a:rPr lang="en-US" altLang="ko-KR" dirty="0"/>
                  <a:t>	Get (</a:t>
                </a:r>
                <a:r>
                  <a:rPr lang="en-US" altLang="ko-KR" dirty="0" err="1"/>
                  <a:t>x,n</a:t>
                </a:r>
                <a:r>
                  <a:rPr lang="en-US" altLang="ko-KR" dirty="0"/>
                  <a:t>) if (</a:t>
                </a:r>
                <a:r>
                  <a:rPr lang="en-US" altLang="ko-KR" dirty="0" err="1"/>
                  <a:t>x,n</a:t>
                </a:r>
                <a:r>
                  <a:rPr lang="en-US" altLang="ko-KR" dirty="0"/>
                  <a:t>)</a:t>
                </a:r>
                <a:r>
                  <a:rPr lang="en-US" altLang="ko-K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 marL="0" indent="0">
                  <a:buNone/>
                </a:pPr>
                <a:r>
                  <a:rPr lang="en-US" altLang="ko-KR" dirty="0"/>
                  <a:t>	RS(</a:t>
                </a:r>
                <a:r>
                  <a:rPr lang="en-US" altLang="ko-KR" dirty="0" err="1"/>
                  <a:t>x,y</a:t>
                </a:r>
                <a:r>
                  <a:rPr lang="en-US" altLang="ko-KR" dirty="0"/>
                  <a:t>) &lt;- RS(</a:t>
                </a:r>
                <a:r>
                  <a:rPr lang="en-US" altLang="ko-KR" dirty="0" err="1"/>
                  <a:t>x,y</a:t>
                </a:r>
                <a:r>
                  <a:rPr lang="en-US" altLang="ko-KR" dirty="0"/>
                  <a:t>) + s*n</a:t>
                </a:r>
              </a:p>
              <a:p>
                <a:pPr marL="0" indent="0">
                  <a:buNone/>
                </a:pPr>
                <a:r>
                  <a:rPr lang="en-US" altLang="ko-KR" dirty="0"/>
                  <a:t>end for</a:t>
                </a:r>
              </a:p>
              <a:p>
                <a:pPr marL="0" indent="0">
                  <a:buNone/>
                </a:pPr>
                <a:r>
                  <a:rPr lang="en-US" altLang="ko-KR" dirty="0"/>
                  <a:t>Return RS(</a:t>
                </a:r>
                <a:r>
                  <a:rPr lang="en-US" altLang="ko-KR" dirty="0" err="1"/>
                  <a:t>x,y</a:t>
                </a:r>
                <a:r>
                  <a:rPr lang="en-US" altLang="ko-KR" dirty="0"/>
                  <a:t>)</a:t>
                </a:r>
              </a:p>
              <a:p>
                <a:r>
                  <a:rPr lang="en-US" altLang="ko-KR" dirty="0"/>
                  <a:t>R(</a:t>
                </a:r>
                <a:r>
                  <a:rPr lang="en-US" altLang="ko-KR" dirty="0" err="1"/>
                  <a:t>x,y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가 높은 </a:t>
                </a:r>
                <a:r>
                  <a:rPr lang="en-US" altLang="ko-KR" dirty="0"/>
                  <a:t>x</a:t>
                </a:r>
                <a:r>
                  <a:rPr lang="ko-KR" altLang="en-US" dirty="0"/>
                  <a:t>순으로 추천 리스트를 만든다</a:t>
                </a:r>
                <a:r>
                  <a:rPr lang="en-US" altLang="ko-KR" dirty="0"/>
                  <a:t>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7DEB7C9-51C3-4444-92D6-83565B3173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4" t="-30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6578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38751C-3452-492C-AA9D-B35E2C3A8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Evaluation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5F6CDE-5BF5-4E81-AEB6-C05AA6852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미국 유명 온라인 데이팅 사이트의 데이터를 사용</a:t>
            </a:r>
            <a:endParaRPr lang="en-US" altLang="ko-KR" dirty="0"/>
          </a:p>
          <a:p>
            <a:r>
              <a:rPr lang="ko-KR" altLang="en-US" dirty="0"/>
              <a:t>두 사용자 간의 연락으로 이루어져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먼저 </a:t>
            </a:r>
            <a:r>
              <a:rPr lang="en-US" altLang="ko-KR" dirty="0"/>
              <a:t>100</a:t>
            </a:r>
            <a:r>
              <a:rPr lang="ko-KR" altLang="en-US" dirty="0"/>
              <a:t>일 동안 기존 유저와 커뮤니티를 찾아낸다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이후 </a:t>
            </a:r>
            <a:r>
              <a:rPr lang="en-US" altLang="ko-KR" dirty="0"/>
              <a:t>30</a:t>
            </a:r>
            <a:r>
              <a:rPr lang="ko-KR" altLang="en-US" dirty="0"/>
              <a:t>일 동안 활동을 새로 시작한 새 유저를 찾아낸다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10</a:t>
            </a:r>
            <a:r>
              <a:rPr lang="ko-KR" altLang="en-US" dirty="0"/>
              <a:t>일 동안 새 유저의 활동 중 기존 유저와의 접촉을 추려낸다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우리의 모델과 </a:t>
            </a:r>
            <a:r>
              <a:rPr lang="en-US" altLang="ko-KR" dirty="0"/>
              <a:t>RECON, rRECON </a:t>
            </a:r>
            <a:r>
              <a:rPr lang="ko-KR" altLang="en-US" dirty="0"/>
              <a:t>세 모델 중</a:t>
            </a:r>
            <a:r>
              <a:rPr lang="en-US" altLang="ko-KR" dirty="0"/>
              <a:t> </a:t>
            </a:r>
            <a:r>
              <a:rPr lang="ko-KR" altLang="en-US" dirty="0"/>
              <a:t>우리 모델이 </a:t>
            </a:r>
            <a:r>
              <a:rPr lang="en-US" altLang="ko-KR" dirty="0"/>
              <a:t>precision, NDCG(normalized discounted cumulative gain), MAP(mean average precision)</a:t>
            </a:r>
            <a:r>
              <a:rPr lang="ko-KR" altLang="en-US" dirty="0"/>
              <a:t>이 가장 높게 나왔다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recall</a:t>
            </a:r>
            <a:r>
              <a:rPr lang="ko-KR" altLang="en-US" dirty="0"/>
              <a:t>은 </a:t>
            </a:r>
            <a:r>
              <a:rPr lang="en-US" altLang="ko-KR" dirty="0"/>
              <a:t>rRECON</a:t>
            </a:r>
            <a:r>
              <a:rPr lang="ko-KR" altLang="en-US" dirty="0"/>
              <a:t>이 </a:t>
            </a:r>
            <a:r>
              <a:rPr lang="en-US" altLang="ko-KR" dirty="0"/>
              <a:t>top-10, top-30</a:t>
            </a:r>
            <a:r>
              <a:rPr lang="ko-KR" altLang="en-US" dirty="0"/>
              <a:t>에서 가장 높게 나오고</a:t>
            </a:r>
            <a:r>
              <a:rPr lang="en-US" altLang="ko-KR" dirty="0"/>
              <a:t>, </a:t>
            </a:r>
            <a:r>
              <a:rPr lang="ko-KR" altLang="en-US" dirty="0"/>
              <a:t>나머지는 </a:t>
            </a:r>
            <a:r>
              <a:rPr lang="en-US" altLang="ko-KR" dirty="0"/>
              <a:t>rRECON</a:t>
            </a:r>
            <a:r>
              <a:rPr lang="ko-KR" altLang="en-US" dirty="0"/>
              <a:t>과 우리의 모델이 비슷하게 나왔다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1775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01487B-3216-499F-B6A9-CE98E11F5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Discussion and Conclusion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E0AF89-CC18-4D1D-A26C-A75D52C50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rRECON </a:t>
            </a:r>
            <a:r>
              <a:rPr lang="ko-KR" altLang="en-US" dirty="0"/>
              <a:t>모델은 기존 </a:t>
            </a:r>
            <a:r>
              <a:rPr lang="en-US" altLang="ko-KR" dirty="0"/>
              <a:t>RECON</a:t>
            </a:r>
            <a:r>
              <a:rPr lang="ko-KR" altLang="en-US" dirty="0"/>
              <a:t>에 상호성을 도입한 모델이다</a:t>
            </a:r>
            <a:r>
              <a:rPr lang="en-US" altLang="ko-KR" dirty="0"/>
              <a:t>. </a:t>
            </a:r>
            <a:r>
              <a:rPr lang="ko-KR" altLang="en-US" dirty="0"/>
              <a:t>유저가 이성에게 보낸 연락 전부가 아닌</a:t>
            </a:r>
            <a:r>
              <a:rPr lang="en-US" altLang="ko-KR" dirty="0"/>
              <a:t>, </a:t>
            </a:r>
            <a:r>
              <a:rPr lang="ko-KR" altLang="en-US" dirty="0"/>
              <a:t>다시 답장이 온 연락만을 추려낸다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하지만 이 방법은</a:t>
            </a:r>
            <a:r>
              <a:rPr lang="en-US" altLang="ko-KR" dirty="0"/>
              <a:t>, </a:t>
            </a:r>
            <a:r>
              <a:rPr lang="ko-KR" altLang="en-US" dirty="0"/>
              <a:t>답장까지 오는 연락은 매우 적다는 문제점을 가진다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또한 </a:t>
            </a:r>
            <a:r>
              <a:rPr lang="en-US" altLang="ko-KR" dirty="0"/>
              <a:t>RECON</a:t>
            </a:r>
            <a:r>
              <a:rPr lang="ko-KR" altLang="en-US" dirty="0"/>
              <a:t>과 </a:t>
            </a:r>
            <a:r>
              <a:rPr lang="en-US" altLang="ko-KR" dirty="0"/>
              <a:t>rRECON</a:t>
            </a:r>
            <a:r>
              <a:rPr lang="ko-KR" altLang="en-US" dirty="0"/>
              <a:t>은 비슷한 유저들의 기록을 사용하기 어렵다는 공통적인 문제가 있다</a:t>
            </a:r>
            <a:r>
              <a:rPr lang="en-US" altLang="ko-KR" dirty="0"/>
              <a:t>.*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0897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3D6371-502F-4796-987B-E6ABC99EE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Discussion and Conclusion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8E5F98-D5B6-4244-A203-2D4340B91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rRECON</a:t>
            </a:r>
            <a:r>
              <a:rPr lang="ko-KR" altLang="en-US" dirty="0"/>
              <a:t>에서는 유저 대 유저의 유사도 대신 유저 대 커뮤니티의 유사도를 찾아낸다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이는 주관적인 기준을 가지게 되는 기존 </a:t>
            </a:r>
            <a:r>
              <a:rPr lang="en-US" altLang="ko-KR" dirty="0"/>
              <a:t>content-based </a:t>
            </a:r>
            <a:r>
              <a:rPr lang="ko-KR" altLang="en-US" dirty="0"/>
              <a:t>추천 시스템의 단점을 무마한다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커뮤니티 프로필을 만들고</a:t>
            </a:r>
            <a:r>
              <a:rPr lang="en-US" altLang="ko-KR" dirty="0"/>
              <a:t>, </a:t>
            </a:r>
            <a:r>
              <a:rPr lang="ko-KR" altLang="en-US" dirty="0"/>
              <a:t>새 유저와 가장 유사한 커뮤니티를 찾아낸다</a:t>
            </a:r>
            <a:r>
              <a:rPr lang="en-US" altLang="ko-KR" dirty="0"/>
              <a:t>. </a:t>
            </a:r>
            <a:r>
              <a:rPr lang="ko-KR" altLang="en-US" dirty="0"/>
              <a:t>이는 새 유저가 기존 유저의 활동에서 </a:t>
            </a:r>
            <a:r>
              <a:rPr lang="en-US" altLang="ko-KR" dirty="0"/>
              <a:t>advantage</a:t>
            </a:r>
            <a:r>
              <a:rPr lang="ko-KR" altLang="en-US" dirty="0"/>
              <a:t>를 얻도록 해준다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41181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460BDC-1955-4784-A478-6BFE4C138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Discussion and Conclusion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0D93E9-7AD7-4E61-90D4-EE61587F0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상호적 연락을 기반으로 한 네트워크 설정이 아닌</a:t>
            </a:r>
            <a:r>
              <a:rPr lang="en-US" altLang="ko-KR" dirty="0"/>
              <a:t>, </a:t>
            </a:r>
            <a:r>
              <a:rPr lang="ko-KR" altLang="en-US" dirty="0"/>
              <a:t>다른 방식을 이용할 수도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상호적 연락 뿐만이 아닌</a:t>
            </a:r>
            <a:r>
              <a:rPr lang="en-US" altLang="ko-KR" dirty="0"/>
              <a:t>, </a:t>
            </a:r>
            <a:r>
              <a:rPr lang="ko-KR" altLang="en-US" dirty="0"/>
              <a:t>보내기만 하는 연락도 고려할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다른 데이터셋을 통한 연구가 가능할 것이다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60258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7B5AFA-3419-4312-844E-14C2C1C9B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강점과 약점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84BF48-BF03-4069-BFC9-F9448E178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338655"/>
          </a:xfrm>
        </p:spPr>
        <p:txBody>
          <a:bodyPr>
            <a:normAutofit fontScale="85000" lnSpcReduction="20000"/>
          </a:bodyPr>
          <a:lstStyle/>
          <a:p>
            <a:r>
              <a:rPr lang="ko-KR" altLang="en-US" dirty="0"/>
              <a:t>강점</a:t>
            </a:r>
          </a:p>
          <a:p>
            <a:r>
              <a:rPr lang="en-US" altLang="ko-KR" dirty="0"/>
              <a:t>1. collaborative filtering</a:t>
            </a:r>
            <a:r>
              <a:rPr lang="ko-KR" altLang="en-US" dirty="0"/>
              <a:t>과 </a:t>
            </a:r>
            <a:r>
              <a:rPr lang="en-US" altLang="ko-KR" dirty="0"/>
              <a:t>content-based method</a:t>
            </a:r>
            <a:r>
              <a:rPr lang="ko-KR" altLang="en-US" dirty="0"/>
              <a:t>를 잘 섞었다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여러 가지 평가 기준에 대해 여러 번 실험을 진행했다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약점</a:t>
            </a:r>
          </a:p>
          <a:p>
            <a:r>
              <a:rPr lang="en-US" altLang="ko-KR" dirty="0"/>
              <a:t>1. content-based method</a:t>
            </a:r>
            <a:r>
              <a:rPr lang="ko-KR" altLang="en-US" dirty="0"/>
              <a:t>의 문제점으로</a:t>
            </a:r>
            <a:r>
              <a:rPr lang="en-US" altLang="ko-KR" dirty="0"/>
              <a:t>, </a:t>
            </a:r>
            <a:r>
              <a:rPr lang="ko-KR" altLang="en-US" dirty="0"/>
              <a:t>어떤 </a:t>
            </a:r>
            <a:r>
              <a:rPr lang="en-US" altLang="ko-KR" dirty="0"/>
              <a:t>attribute</a:t>
            </a:r>
            <a:r>
              <a:rPr lang="ko-KR" altLang="en-US" dirty="0"/>
              <a:t>를 사용할 지 모호하고 그게 이성에게 중요한 것인 지도 알 수 없다</a:t>
            </a:r>
            <a:r>
              <a:rPr lang="en-US" altLang="ko-KR" dirty="0"/>
              <a:t>. </a:t>
            </a:r>
            <a:r>
              <a:rPr lang="ko-KR" altLang="en-US" dirty="0"/>
              <a:t>또한 유저가 프로필을 처음에 적어줘야 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알고리즘을 보면 </a:t>
            </a:r>
            <a:r>
              <a:rPr lang="en-US" altLang="ko-KR" dirty="0"/>
              <a:t>RS &lt;- RS + s*n </a:t>
            </a:r>
            <a:r>
              <a:rPr lang="ko-KR" altLang="en-US" dirty="0"/>
              <a:t>으로 계산하는데</a:t>
            </a:r>
            <a:r>
              <a:rPr lang="en-US" altLang="ko-KR" dirty="0"/>
              <a:t>, </a:t>
            </a:r>
            <a:r>
              <a:rPr lang="ko-KR" altLang="en-US" dirty="0"/>
              <a:t>이렇게 바로 곱하는 게 가장 좋은 방법인지 알 수 없다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3. similarity</a:t>
            </a:r>
            <a:r>
              <a:rPr lang="ko-KR" altLang="en-US" dirty="0"/>
              <a:t>가 어떻게 구해지는 지 정확히 안 나와있다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보완점</a:t>
            </a:r>
          </a:p>
          <a:p>
            <a:r>
              <a:rPr lang="en-US" altLang="ko-KR" dirty="0"/>
              <a:t>1. </a:t>
            </a:r>
            <a:r>
              <a:rPr lang="ko-KR" altLang="en-US" dirty="0"/>
              <a:t>어떤 </a:t>
            </a:r>
            <a:r>
              <a:rPr lang="en-US" altLang="ko-KR" dirty="0"/>
              <a:t>attribute</a:t>
            </a:r>
            <a:r>
              <a:rPr lang="ko-KR" altLang="en-US" dirty="0"/>
              <a:t>가 이성에게 중요하게 여겨지는 지도 연구한다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2. s</a:t>
            </a:r>
            <a:r>
              <a:rPr lang="ko-KR" altLang="en-US" dirty="0"/>
              <a:t>와 </a:t>
            </a:r>
            <a:r>
              <a:rPr lang="en-US" altLang="ko-KR" dirty="0"/>
              <a:t>n</a:t>
            </a:r>
            <a:r>
              <a:rPr lang="ko-KR" altLang="en-US" dirty="0"/>
              <a:t>에 계수를 곱해서 곱하는 등 다른 방식도 시험해본다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3. </a:t>
            </a:r>
            <a:r>
              <a:rPr lang="ko-KR" altLang="en-US" dirty="0"/>
              <a:t>어떻게 구하는 지 명시한다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1307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1685</TotalTime>
  <Words>859</Words>
  <Application>Microsoft Office PowerPoint</Application>
  <PresentationFormat>와이드스크린</PresentationFormat>
  <Paragraphs>72</Paragraphs>
  <Slides>12</Slides>
  <Notes>0</Notes>
  <HiddenSlides>1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Cambria Math</vt:lpstr>
      <vt:lpstr>Office 테마</vt:lpstr>
      <vt:lpstr>New to Online Dating? Learning from Experienced Users for a Successful Match </vt:lpstr>
      <vt:lpstr>Introduction</vt:lpstr>
      <vt:lpstr>Extracting Communities of Existing Users</vt:lpstr>
      <vt:lpstr>Finding Reciprocal Contacts for Communities</vt:lpstr>
      <vt:lpstr>Generating Community Profile</vt:lpstr>
      <vt:lpstr>Calculating Similarities Between  New Users and Communities</vt:lpstr>
      <vt:lpstr>Recommendation</vt:lpstr>
      <vt:lpstr>Evaluation</vt:lpstr>
      <vt:lpstr>Discussion and Conclusion</vt:lpstr>
      <vt:lpstr>Discussion and Conclusion</vt:lpstr>
      <vt:lpstr>Discussion and Conclusion</vt:lpstr>
      <vt:lpstr>강점과 약점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to Online Dating? Learning from Experienced Users for a Successful Match </dc:title>
  <dc:creator>박범규</dc:creator>
  <cp:lastModifiedBy>박범규</cp:lastModifiedBy>
  <cp:revision>45</cp:revision>
  <dcterms:created xsi:type="dcterms:W3CDTF">2021-02-16T08:31:48Z</dcterms:created>
  <dcterms:modified xsi:type="dcterms:W3CDTF">2021-03-15T16:48:20Z</dcterms:modified>
</cp:coreProperties>
</file>