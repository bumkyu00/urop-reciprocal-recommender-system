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3D1AD6-AF9F-4E91-AD19-85C22E9DD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A2B402-A04E-4B7E-B33D-7E7C7EC07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2F5E25-8A4A-4F10-A8A5-689E812FD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12564A-C197-49B0-8A10-A674C761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0E853A-9189-48DF-998A-6C2ABC5A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01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8FB28-0036-4B09-8C02-49DC89CA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5A4585-271D-46C3-9389-168991CA2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F65FD-82D4-4F4D-85E4-0EF52E23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53290-BEE8-4ACE-9A07-51D720F5A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1640C-0241-4CC4-AC96-E605527F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83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C7BE1-B628-4978-8F7B-0AC3E528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C2CBE0-D5DC-4662-BC5D-E40CAB2E4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1F638-D07C-4E43-803B-2F6BE4DB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0D8B65-1AF4-4DBC-BEE2-E9BC715B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12C77-E9E9-4D57-85F5-A5B8BBE1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7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FA05B-01F8-4525-A440-4A5C7156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2A8EE-AD18-49CE-B9A3-414EC3A03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17947C-ED96-45A4-A8CF-8F9379999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308332-9665-4C8B-80D5-F704F80FD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4820B9-CEC1-4EFE-A0BD-DD10584C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B4C3B6-E2D2-41B1-8AF1-D00FDB98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74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CAB38-8BA4-44A5-8980-1674C709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FBBF25-A9D0-4766-A812-03D1C0A9A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0FF027-CD8E-4189-9CF2-B3E65C4BB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F7A19A-9169-4497-A971-9FE6AB36E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C9955D-FF89-4958-8B55-14C31D5FC9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40063C4-5EDF-41BC-BD62-9C72FE1A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4A2C10-F3B8-46DD-A27F-A5518B0A2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927A37-F562-487A-A9EF-58C56101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15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BF6F5-7F62-416F-B2D1-FF4B3ED7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1F7F7A-8875-487D-BF4A-6EC152FF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E6CB4F-95D6-4804-9AFF-0B6C71E8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4FE59B-BC1A-473D-B3AA-73A486A5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807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B3D0C6-F09F-42B5-AB78-79D750BC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E57667-C85B-4FE5-A764-FA686AF10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3D84F6-D39E-4CAE-8747-50DB2F5F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45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2DED5-52F5-41F1-B67C-47CDF66F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F8AEFA-298E-4592-B2A5-7AF77BF75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C9199D-5832-4D38-8776-C6624CFC2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D09CD6-0A4D-49B1-BD25-55E02B07D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E47C62-64E9-4AA9-883F-B79FC9A3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3CCAC6-2E5E-461D-A3B9-3B896F6B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86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41039-5240-49E4-9ADC-B7305297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F16436-7029-4CD3-8C17-081CA933C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5A5746-98E0-405D-B56D-D117C6DD0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59685F-7AEA-432E-90E3-53646356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5D084-09FA-43A1-9F95-EB132E44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E2C9CB-45F3-4F4B-BAA2-479B5150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58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11D76-5D3C-4640-AE3B-6ABD4EC9F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F4A83D-40CD-4BC1-80B6-9B4EA1A13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F0429B-2711-432A-9FB4-B7DC662D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FC452C-39B3-4CC6-9441-DFDEC4B7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1A2A4D-D787-4DF0-B766-4B275EB5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72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92CA09-7FD4-4280-8DEA-62151CAF6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D890F5-C34A-4C96-B4FB-7B84DB380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E709A5-F617-42FD-8EBD-B7F50264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1DFC6-FC0F-4764-AE62-EBB27AA08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3F6DFC-F334-448D-B5E3-A0D1F209A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8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67A314-26D5-434C-9B94-51B2DF234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9D9259-8480-4546-8CD9-92B5F5FDA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95D28-A943-4C81-9AE6-DC111430B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2A987-60E8-412C-9738-63799BAE6312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80FBEE-F7C1-4593-9D9B-8FC1BEEDB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7FB9B-A0AB-4524-9F74-95E4D9309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69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155F7-5841-497E-8C2B-B24D2F2E6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Latent Factor Models and Aggregation Operators for Collaborative Filtering in Reciprocal Recommender Systems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659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40765-4270-4448-B99A-542B0BF9C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F1B67A-A818-4609-89E2-78A20FB4F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최근 온라인 데이팅 플랫폼은 사회 전반에 큰 영향력을 행사했다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Latent factor(LF) </a:t>
            </a:r>
            <a:r>
              <a:rPr lang="ko-KR" altLang="en-US" dirty="0"/>
              <a:t>모델은 </a:t>
            </a:r>
            <a:r>
              <a:rPr lang="en-US" altLang="ko-KR" dirty="0"/>
              <a:t>user-item </a:t>
            </a:r>
            <a:r>
              <a:rPr lang="ko-KR" altLang="en-US" dirty="0"/>
              <a:t>추천 시스템에서는 좋은 성과를 보였지만</a:t>
            </a:r>
            <a:r>
              <a:rPr lang="en-US" altLang="ko-KR" dirty="0"/>
              <a:t>, user-user </a:t>
            </a:r>
            <a:r>
              <a:rPr lang="ko-KR" altLang="en-US" dirty="0"/>
              <a:t>추천 시스템의 영역에서는 아직 탐구 되지 못했다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LF </a:t>
            </a:r>
            <a:r>
              <a:rPr lang="ko-KR" altLang="en-US" dirty="0"/>
              <a:t>모델은 적은 수의 </a:t>
            </a:r>
            <a:r>
              <a:rPr lang="en-US" altLang="ko-KR" dirty="0"/>
              <a:t>factor</a:t>
            </a:r>
            <a:r>
              <a:rPr lang="ko-KR" altLang="en-US" dirty="0"/>
              <a:t>로 관계를 표현할 수 있다</a:t>
            </a:r>
            <a:r>
              <a:rPr lang="en-US" altLang="ko-KR" dirty="0"/>
              <a:t>. </a:t>
            </a:r>
            <a:r>
              <a:rPr lang="ko-KR" altLang="en-US" dirty="0"/>
              <a:t>이는 크고 비어 있는 행렬에 더욱 효과적으로 작용한다</a:t>
            </a:r>
            <a:r>
              <a:rPr lang="en-US" altLang="ko-KR" dirty="0"/>
              <a:t>. </a:t>
            </a:r>
            <a:r>
              <a:rPr lang="ko-KR" altLang="en-US" dirty="0"/>
              <a:t>온라인 데이팅 같은 경우</a:t>
            </a:r>
            <a:r>
              <a:rPr lang="en-US" altLang="ko-KR" dirty="0"/>
              <a:t> </a:t>
            </a:r>
            <a:r>
              <a:rPr lang="ko-KR" altLang="en-US" dirty="0"/>
              <a:t>대부분 매우 적은 수의 유저에게 호감도를 표시하기 때문에</a:t>
            </a:r>
            <a:r>
              <a:rPr lang="en-US" altLang="ko-KR" dirty="0"/>
              <a:t>, LF</a:t>
            </a:r>
            <a:r>
              <a:rPr lang="ko-KR" altLang="en-US" dirty="0"/>
              <a:t> 모델을 사용하기 적합하다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한편 기존의 </a:t>
            </a:r>
            <a:r>
              <a:rPr lang="en-US" altLang="ko-KR" dirty="0"/>
              <a:t>RECON, RCF </a:t>
            </a:r>
            <a:r>
              <a:rPr lang="ko-KR" altLang="en-US" dirty="0"/>
              <a:t>등은 두 점수를 계산하고 이를 조화평균으로 결합하는데</a:t>
            </a:r>
            <a:r>
              <a:rPr lang="en-US" altLang="ko-KR" dirty="0"/>
              <a:t>, </a:t>
            </a:r>
            <a:r>
              <a:rPr lang="ko-KR" altLang="en-US" dirty="0"/>
              <a:t>더 효과적인 결합 함수가 존재할 수도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6636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69F84-4454-472A-B817-9096A3A39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CF646-8E5C-44E1-8CAD-430E2084B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Latent</a:t>
            </a:r>
            <a:r>
              <a:rPr lang="ko-KR" altLang="en-US" dirty="0"/>
              <a:t> </a:t>
            </a:r>
            <a:r>
              <a:rPr lang="en-US" altLang="ko-KR" dirty="0"/>
              <a:t>Factor</a:t>
            </a:r>
            <a:r>
              <a:rPr lang="ko-KR" altLang="en-US" dirty="0"/>
              <a:t> </a:t>
            </a:r>
            <a:r>
              <a:rPr lang="en-US" altLang="ko-KR" dirty="0"/>
              <a:t>Reciprocal</a:t>
            </a:r>
            <a:r>
              <a:rPr lang="ko-KR" altLang="en-US" dirty="0"/>
              <a:t> </a:t>
            </a:r>
            <a:r>
              <a:rPr lang="en-US" altLang="ko-KR" dirty="0"/>
              <a:t>Recommendation(LFRR) </a:t>
            </a:r>
            <a:r>
              <a:rPr lang="ko-KR" altLang="en-US" dirty="0"/>
              <a:t>모델은 두 </a:t>
            </a:r>
            <a:r>
              <a:rPr lang="en-US" altLang="ko-KR" dirty="0"/>
              <a:t>latent factor </a:t>
            </a:r>
            <a:r>
              <a:rPr lang="ko-KR" altLang="en-US" dirty="0"/>
              <a:t>모델을 생성한다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 수천 단위의 데이터셋 대신</a:t>
            </a:r>
            <a:r>
              <a:rPr lang="en-US" altLang="ko-KR" dirty="0"/>
              <a:t>, </a:t>
            </a:r>
            <a:r>
              <a:rPr lang="ko-KR" altLang="en-US" dirty="0"/>
              <a:t>수백만 단위의 데이터셋을 사용해 더욱 유용함을 보인다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여러 가지 결합 함수를 시도해 가장 효과적인 것을 골라낸다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7062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ED292-13BF-4A37-AD9F-BD4F68EE1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Aggregation Operators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2E1FAA7-CEDA-43E6-8F7C-CABBE4980F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2375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ko-KR" altLang="en-US" dirty="0"/>
                  <a:t>대표적으로 </a:t>
                </a:r>
                <a:r>
                  <a:rPr lang="en-US" altLang="ko-KR" dirty="0"/>
                  <a:t>arithmetic mean, geometric mean, harmonic mean </a:t>
                </a:r>
                <a:r>
                  <a:rPr lang="ko-KR" altLang="en-US" dirty="0"/>
                  <a:t>등이 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산술평균은 한 값만이 매우 클 경우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다른 값이 낮더라도 합계가 낮게 나오기 때문에 문제가 있다</a:t>
                </a:r>
                <a:r>
                  <a:rPr lang="en-US" altLang="ko-KR" dirty="0"/>
                  <a:t>. </a:t>
                </a:r>
              </a:p>
              <a:p>
                <a:r>
                  <a:rPr lang="ko-KR" altLang="en-US" dirty="0"/>
                  <a:t>반대로 조화평균은 한 값이 매우 작으면 합계 또한 작기 때문에 지금까지 </a:t>
                </a:r>
                <a:r>
                  <a:rPr lang="en-US" altLang="ko-KR" dirty="0"/>
                  <a:t>RRS</a:t>
                </a:r>
                <a:r>
                  <a:rPr lang="ko-KR" altLang="en-US" dirty="0"/>
                  <a:t>에 쓰인 유일한  결합 함수이다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t-norm</a:t>
                </a:r>
                <a:r>
                  <a:rPr lang="ko-KR" altLang="en-US" dirty="0"/>
                  <a:t>과 </a:t>
                </a:r>
                <a:r>
                  <a:rPr lang="en-US" altLang="ko-KR" dirty="0"/>
                  <a:t>t-conorm</a:t>
                </a:r>
                <a:r>
                  <a:rPr lang="ko-KR" altLang="en-US" dirty="0"/>
                  <a:t>을 일반화한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uninorm</a:t>
                </a:r>
                <a:r>
                  <a:rPr lang="ko-KR" altLang="en-US" dirty="0"/>
                  <a:t>을 사용할 수도 있다</a:t>
                </a:r>
                <a:r>
                  <a:rPr lang="en-US" altLang="ko-KR" dirty="0"/>
                  <a:t>. cross-ratio </a:t>
                </a:r>
                <a:r>
                  <a:rPr lang="en-US" altLang="ko-KR" dirty="0" err="1"/>
                  <a:t>uninorm</a:t>
                </a:r>
                <a:r>
                  <a:rPr lang="ko-KR" altLang="en-US" dirty="0"/>
                  <a:t>은 다음과 같다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)(1−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r>
                  <a:rPr lang="en-US" altLang="ko-KR" dirty="0" err="1"/>
                  <a:t>uninorm</a:t>
                </a:r>
                <a:r>
                  <a:rPr lang="ko-KR" altLang="en-US" dirty="0"/>
                  <a:t>은 값이 둘 다 작으면 더 작은 값이 나오고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둘 다 크면 더 큰 값이 나오고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하나가 크고 하나가 작으면 평균적인 값이 나온다</a:t>
                </a:r>
                <a:r>
                  <a:rPr lang="en-US" altLang="ko-KR" dirty="0"/>
                  <a:t>.(full reinforcement property)</a:t>
                </a:r>
              </a:p>
              <a:p>
                <a:r>
                  <a:rPr lang="ko-KR" altLang="en-US" dirty="0"/>
                  <a:t>이는 두 사람 모두 마음이 맞아야 하는 </a:t>
                </a:r>
                <a:r>
                  <a:rPr lang="en-US" altLang="ko-KR" dirty="0"/>
                  <a:t>RRS</a:t>
                </a:r>
                <a:r>
                  <a:rPr lang="ko-KR" altLang="en-US" dirty="0"/>
                  <a:t>에 적합하다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2E1FAA7-CEDA-43E6-8F7C-CABBE4980F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23750"/>
              </a:xfrm>
              <a:blipFill>
                <a:blip r:embed="rId2"/>
                <a:stretch>
                  <a:fillRect l="-928" t="-3535" r="-986" b="-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208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5863-5E4F-413D-8266-3D54E3B3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Latent Factor Model for Reciprocal Recommendation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D343ED-C66C-4443-9131-97FEB72B0D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en-US" altLang="ko-KR" dirty="0"/>
                  <a:t>implicit,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dense</a:t>
                </a:r>
                <a:r>
                  <a:rPr lang="ko-KR" altLang="en-US" dirty="0"/>
                  <a:t>한 행렬에 효과적인 </a:t>
                </a:r>
                <a:r>
                  <a:rPr lang="en-US" altLang="ko-KR" dirty="0"/>
                  <a:t>Alternating Least Squares</a:t>
                </a:r>
                <a:r>
                  <a:rPr lang="ko-KR" altLang="en-US" dirty="0"/>
                  <a:t>보다</a:t>
                </a:r>
                <a:r>
                  <a:rPr lang="en-US" altLang="ko-KR" dirty="0"/>
                  <a:t>, explicit, sparse</a:t>
                </a:r>
                <a:r>
                  <a:rPr lang="ko-KR" altLang="en-US" dirty="0"/>
                  <a:t>한 행렬에 효과적인 </a:t>
                </a:r>
                <a:r>
                  <a:rPr lang="en-US" altLang="ko-KR" dirty="0"/>
                  <a:t>Stochastic Gradient Descent</a:t>
                </a:r>
                <a:r>
                  <a:rPr lang="ko-KR" altLang="en-US" dirty="0"/>
                  <a:t>를 사용한다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ko-KR" altLang="en-US" dirty="0"/>
                  <a:t>이렇게 나온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dirty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dirty="0"/>
                  <a:t>를 </a:t>
                </a:r>
                <a:r>
                  <a:rPr lang="en-US" altLang="ko-KR" dirty="0"/>
                  <a:t>aggregation function</a:t>
                </a:r>
                <a:r>
                  <a:rPr lang="ko-KR" altLang="en-US" dirty="0"/>
                  <a:t>을 통해 합친다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D343ED-C66C-4443-9131-97FEB72B0D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833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14CC9-C289-49CE-A071-B87A434F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LFRR Algorithm*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431794-8CE7-4B81-A20B-BF26730136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65792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altLang="ko-KR" dirty="0"/>
                  <a:t>Input: Trained feature matrices U1, U2, V1, V2</a:t>
                </a:r>
              </a:p>
              <a:p>
                <a:r>
                  <a:rPr lang="en-US" altLang="ko-KR" dirty="0"/>
                  <a:t>Recs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←∅</m:t>
                    </m:r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for all b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Candidates do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if a is female then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else</a:t>
                </a: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end if</a:t>
                </a: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𝑟𝑒𝑐𝑖𝑝𝑟𝑜𝑐𝑎𝑙𝑆𝑐𝑜𝑟𝑒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𝐴𝑔𝑔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Recs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𝑅𝑒𝑐𝑠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𝑟𝑒𝑐𝑖𝑝𝑟𝑜𝑐𝑎𝑙𝑆𝑐𝑜𝑟𝑒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end for</a:t>
                </a: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return Recs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431794-8CE7-4B81-A20B-BF2673013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65792"/>
              </a:xfrm>
              <a:blipFill>
                <a:blip r:embed="rId2"/>
                <a:stretch>
                  <a:fillRect l="-638" t="-24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429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E59D5-0B8F-42D4-904F-FF255770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5A1B4-7459-4D06-9500-095517BC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유저는 </a:t>
            </a:r>
            <a:r>
              <a:rPr lang="en-US" altLang="ko-KR" dirty="0"/>
              <a:t>like</a:t>
            </a:r>
            <a:r>
              <a:rPr lang="ko-KR" altLang="en-US" dirty="0"/>
              <a:t>를 보낼 수 있고</a:t>
            </a:r>
            <a:r>
              <a:rPr lang="en-US" altLang="ko-KR" dirty="0"/>
              <a:t>, </a:t>
            </a:r>
            <a:r>
              <a:rPr lang="ko-KR" altLang="en-US" dirty="0"/>
              <a:t>두 유저가 서로 </a:t>
            </a:r>
            <a:r>
              <a:rPr lang="en-US" altLang="ko-KR" dirty="0"/>
              <a:t>like</a:t>
            </a:r>
            <a:r>
              <a:rPr lang="ko-KR" altLang="en-US" dirty="0"/>
              <a:t>를 보내야만 메시지를 보낼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평가 지표는 </a:t>
            </a:r>
            <a:r>
              <a:rPr lang="en-US" altLang="ko-KR" dirty="0"/>
              <a:t>effectiveness</a:t>
            </a:r>
            <a:r>
              <a:rPr lang="ko-KR" altLang="en-US" dirty="0"/>
              <a:t>와 </a:t>
            </a:r>
            <a:r>
              <a:rPr lang="en-US" altLang="ko-KR" dirty="0"/>
              <a:t>efficiency </a:t>
            </a:r>
            <a:r>
              <a:rPr lang="ko-KR" altLang="en-US" dirty="0"/>
              <a:t>두 가지이다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가지 알고리즘과 네 가지 결합 함수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가지 경우를 시험한다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빠른 테스트와 유저의 편의성을 위해 오프라인으로 시험한다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알고리즘에 의해 서로 좋은 점수가 나왔을 때</a:t>
            </a:r>
            <a:r>
              <a:rPr lang="en-US" altLang="ko-KR" dirty="0"/>
              <a:t>, </a:t>
            </a:r>
            <a:r>
              <a:rPr lang="ko-KR" altLang="en-US" dirty="0"/>
              <a:t>실제로도 </a:t>
            </a:r>
            <a:r>
              <a:rPr lang="en-US" altLang="ko-KR" dirty="0"/>
              <a:t>match</a:t>
            </a:r>
            <a:r>
              <a:rPr lang="ko-KR" altLang="en-US" dirty="0"/>
              <a:t>가 성사됐으면 </a:t>
            </a:r>
            <a:r>
              <a:rPr lang="en-US" altLang="ko-KR" dirty="0"/>
              <a:t>true positive, </a:t>
            </a:r>
            <a:r>
              <a:rPr lang="ko-KR" altLang="en-US" dirty="0"/>
              <a:t>그렇지 않으면 </a:t>
            </a:r>
            <a:r>
              <a:rPr lang="en-US" altLang="ko-KR" dirty="0"/>
              <a:t>false positive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B4CD9-53DA-49CA-A12C-9595FE77D0CE}"/>
              </a:ext>
            </a:extLst>
          </p:cNvPr>
          <p:cNvSpPr txBox="1"/>
          <p:nvPr/>
        </p:nvSpPr>
        <p:spPr>
          <a:xfrm>
            <a:off x="5637320" y="2974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9292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E9293-AFCE-481D-BC2A-9428B507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85209D-E191-4EEE-9140-149F30AAC1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altLang="ko-KR" dirty="0"/>
                  <a:t>RL: </a:t>
                </a:r>
                <a:r>
                  <a:rPr lang="ko-KR" altLang="en-US" dirty="0"/>
                  <a:t>서로 추천되어 성사된 유저 쌍</a:t>
                </a:r>
                <a:endParaRPr lang="en-US" altLang="ko-KR" dirty="0"/>
              </a:p>
              <a:p>
                <a:r>
                  <a:rPr lang="en-US" altLang="ko-KR" dirty="0"/>
                  <a:t>RN: </a:t>
                </a:r>
                <a:r>
                  <a:rPr lang="ko-KR" altLang="en-US" dirty="0"/>
                  <a:t>서로 추천되었지만 최소 한명이 거부한 유저 쌍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𝑅𝐿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𝑅𝐿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𝑅𝑁</m:t>
                            </m:r>
                          </m:e>
                        </m:d>
                      </m:den>
                    </m:f>
                  </m:oMath>
                </a14:m>
                <a:endParaRPr lang="en-US" altLang="ko-KR" dirty="0"/>
              </a:p>
              <a:p>
                <a:r>
                  <a:rPr lang="en-US" altLang="ko-KR" dirty="0"/>
                  <a:t>R: </a:t>
                </a:r>
                <a:r>
                  <a:rPr lang="ko-KR" altLang="en-US" dirty="0"/>
                  <a:t>추천된 모든 유저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𝑅𝐿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den>
                    </m:f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𝑒𝑓𝑓𝑒𝑐𝑡𝑖𝑣𝑒𝑛𝑒𝑠𝑠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r>
                  <a:rPr lang="en-US" altLang="ko-KR" dirty="0"/>
                  <a:t>Efficiency</a:t>
                </a:r>
                <a:r>
                  <a:rPr lang="ko-KR" altLang="en-US" dirty="0"/>
                  <a:t>는 다음 두 가지를 통해 따진다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두 유저 간의 점수를 계산하기 위한 시간</a:t>
                </a:r>
                <a:endParaRPr lang="en-US" altLang="ko-KR" dirty="0"/>
              </a:p>
              <a:p>
                <a:r>
                  <a:rPr lang="ko-KR" altLang="en-US" dirty="0"/>
                  <a:t>한 유저와 다른 모든 유저 간의 점수와 리스트를 만드는 시간</a:t>
                </a:r>
                <a:endParaRPr lang="en-US" altLang="ko-KR" dirty="0"/>
              </a:p>
              <a:p>
                <a:r>
                  <a:rPr lang="ko-KR" altLang="en-US" dirty="0"/>
                  <a:t>둘은 따로 평가된다</a:t>
                </a:r>
                <a:r>
                  <a:rPr lang="en-US" altLang="ko-KR" dirty="0"/>
                  <a:t>. 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85209D-E191-4EEE-9140-149F30AAC1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3081" b="-11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164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28F80-5EFF-4977-9D38-BD99D6B0C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Results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D86612-8C6F-4483-874F-F5F6ED9A2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48" y="1690688"/>
            <a:ext cx="4809486" cy="4439524"/>
          </a:xfrm>
          <a:prstGeom prst="rect">
            <a:avLst/>
          </a:prstGeo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F302610C-8136-4DBD-9FA8-18995876C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571" y="1690688"/>
            <a:ext cx="4772691" cy="4324954"/>
          </a:xfrm>
        </p:spPr>
      </p:pic>
    </p:spTree>
    <p:extLst>
      <p:ext uri="{BB962C8B-B14F-4D97-AF65-F5344CB8AC3E}">
        <p14:creationId xmlns:p14="http://schemas.microsoft.com/office/powerpoint/2010/main" val="3381745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0EC23-AFB5-4B82-A156-D5A2381C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Results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A803F7-57BF-4207-899A-FD2D1C8C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LFRR</a:t>
            </a:r>
            <a:r>
              <a:rPr lang="ko-KR" altLang="en-US" dirty="0"/>
              <a:t>의 경우 </a:t>
            </a:r>
            <a:r>
              <a:rPr lang="en-US" altLang="ko-KR" dirty="0"/>
              <a:t>RCF</a:t>
            </a:r>
            <a:r>
              <a:rPr lang="ko-KR" altLang="en-US" dirty="0"/>
              <a:t>에 비해 어떤 결합 함수를 쓰든 일관성 있게 좋은 결과가 나왔다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en-US" altLang="ko-KR" dirty="0"/>
              <a:t>RCF</a:t>
            </a:r>
            <a:r>
              <a:rPr lang="ko-KR" altLang="en-US" dirty="0"/>
              <a:t>가 </a:t>
            </a:r>
            <a:r>
              <a:rPr lang="en-US" altLang="ko-KR" dirty="0"/>
              <a:t>cross-ratio </a:t>
            </a:r>
            <a:r>
              <a:rPr lang="en-US" altLang="ko-KR" dirty="0" err="1"/>
              <a:t>uninorm</a:t>
            </a:r>
            <a:r>
              <a:rPr lang="ko-KR" altLang="en-US" dirty="0"/>
              <a:t>을 사용하는 경우에는 큰 차이가 없었다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Efficiency</a:t>
            </a:r>
            <a:r>
              <a:rPr lang="ko-KR" altLang="en-US" dirty="0"/>
              <a:t>는 두 기준 모두 </a:t>
            </a:r>
            <a:r>
              <a:rPr lang="en-US" altLang="ko-KR" dirty="0"/>
              <a:t>LFRR</a:t>
            </a:r>
            <a:r>
              <a:rPr lang="ko-KR" altLang="en-US" dirty="0"/>
              <a:t>이 </a:t>
            </a:r>
            <a:r>
              <a:rPr lang="en-US" altLang="ko-KR" dirty="0"/>
              <a:t>RCF</a:t>
            </a:r>
            <a:r>
              <a:rPr lang="ko-KR" altLang="en-US" dirty="0"/>
              <a:t>에 비해 훨씬 적은 시간이 걸렸다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 </a:t>
            </a:r>
            <a:r>
              <a:rPr lang="en-US" altLang="ko-KR" dirty="0"/>
              <a:t>LFRR</a:t>
            </a:r>
            <a:r>
              <a:rPr lang="ko-KR" altLang="en-US" dirty="0"/>
              <a:t>에 필요한 </a:t>
            </a:r>
            <a:r>
              <a:rPr lang="en-US" altLang="ko-KR" dirty="0"/>
              <a:t>pre-training time</a:t>
            </a:r>
            <a:r>
              <a:rPr lang="ko-KR" altLang="en-US" dirty="0"/>
              <a:t>의 경우에는 </a:t>
            </a:r>
            <a:r>
              <a:rPr lang="en-US" altLang="ko-KR" dirty="0"/>
              <a:t>RCF</a:t>
            </a:r>
            <a:r>
              <a:rPr lang="ko-KR" altLang="en-US" dirty="0"/>
              <a:t>와 같이 큰 시간이나</a:t>
            </a:r>
            <a:r>
              <a:rPr lang="en-US" altLang="ko-KR" dirty="0"/>
              <a:t>, </a:t>
            </a:r>
            <a:r>
              <a:rPr lang="ko-KR" altLang="en-US" dirty="0"/>
              <a:t>사용자에게 실질적인 불편함은 없다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770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751D5-199E-4915-9744-05CB283E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Conclusions and Future Work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55DA-BE2A-4E27-A22A-76B11CD4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5994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LFRR</a:t>
            </a:r>
            <a:r>
              <a:rPr lang="ko-KR" altLang="en-US" dirty="0"/>
              <a:t>과 </a:t>
            </a:r>
            <a:r>
              <a:rPr lang="en-US" altLang="ko-KR" dirty="0"/>
              <a:t>RCF</a:t>
            </a:r>
            <a:r>
              <a:rPr lang="ko-KR" altLang="en-US" dirty="0"/>
              <a:t>의 </a:t>
            </a:r>
            <a:r>
              <a:rPr lang="en-US" altLang="ko-KR" dirty="0"/>
              <a:t>effectiveness</a:t>
            </a:r>
            <a:r>
              <a:rPr lang="ko-KR" altLang="en-US" dirty="0"/>
              <a:t>는 비슷하지만</a:t>
            </a:r>
            <a:r>
              <a:rPr lang="en-US" altLang="ko-KR" dirty="0"/>
              <a:t>, </a:t>
            </a:r>
            <a:r>
              <a:rPr lang="ko-KR" altLang="en-US" dirty="0"/>
              <a:t>특히 데이터셋이 커질 경우 </a:t>
            </a:r>
            <a:r>
              <a:rPr lang="en-US" altLang="ko-KR" dirty="0"/>
              <a:t>efficiency</a:t>
            </a:r>
            <a:r>
              <a:rPr lang="ko-KR" altLang="en-US" dirty="0"/>
              <a:t>는 </a:t>
            </a:r>
            <a:r>
              <a:rPr lang="en-US" altLang="ko-KR" dirty="0"/>
              <a:t>LFRR</a:t>
            </a:r>
            <a:r>
              <a:rPr lang="ko-KR" altLang="en-US" dirty="0"/>
              <a:t>이 </a:t>
            </a:r>
            <a:r>
              <a:rPr lang="en-US" altLang="ko-KR" dirty="0"/>
              <a:t>RCF</a:t>
            </a:r>
            <a:r>
              <a:rPr lang="ko-KR" altLang="en-US" dirty="0"/>
              <a:t>에 비해 크게 좋은 성적을 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기존의 </a:t>
            </a:r>
            <a:r>
              <a:rPr lang="en-US" altLang="ko-KR" dirty="0"/>
              <a:t>reciprocal </a:t>
            </a:r>
            <a:r>
              <a:rPr lang="ko-KR" altLang="en-US" dirty="0"/>
              <a:t>추천 시스템은 </a:t>
            </a:r>
            <a:r>
              <a:rPr lang="en-US" altLang="ko-KR" dirty="0"/>
              <a:t>harmonic mean</a:t>
            </a:r>
            <a:r>
              <a:rPr lang="ko-KR" altLang="en-US" dirty="0"/>
              <a:t>만을 결합 함수로 사용했지만</a:t>
            </a:r>
            <a:r>
              <a:rPr lang="en-US" altLang="ko-KR" dirty="0"/>
              <a:t>, </a:t>
            </a:r>
            <a:r>
              <a:rPr lang="ko-KR" altLang="en-US" dirty="0"/>
              <a:t>다른 함수의 가능성을 열었다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cross-ratio </a:t>
            </a:r>
            <a:r>
              <a:rPr lang="en-US" altLang="ko-KR" dirty="0" err="1"/>
              <a:t>uninorm</a:t>
            </a:r>
            <a:r>
              <a:rPr lang="ko-KR" altLang="en-US" dirty="0"/>
              <a:t>은 </a:t>
            </a:r>
            <a:r>
              <a:rPr lang="en-US" altLang="ko-KR" dirty="0"/>
              <a:t>RCF</a:t>
            </a:r>
            <a:r>
              <a:rPr lang="ko-KR" altLang="en-US" dirty="0"/>
              <a:t>의 </a:t>
            </a:r>
            <a:r>
              <a:rPr lang="en-US" altLang="ko-KR" dirty="0"/>
              <a:t>effectiveness</a:t>
            </a:r>
            <a:r>
              <a:rPr lang="ko-KR" altLang="en-US" dirty="0"/>
              <a:t>를 증대 시켰다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Data imputation, ALS, Restricted Boltzmann Machine </a:t>
            </a:r>
            <a:r>
              <a:rPr lang="ko-KR" altLang="en-US" dirty="0"/>
              <a:t>등 </a:t>
            </a:r>
            <a:r>
              <a:rPr lang="en-US" altLang="ko-KR" dirty="0"/>
              <a:t>latent factor model</a:t>
            </a:r>
            <a:r>
              <a:rPr lang="ko-KR" altLang="en-US" dirty="0"/>
              <a:t>을 훈련시키는 여러 다른 방법이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어떤 사람은 짧은 만남을 생각하고</a:t>
            </a:r>
            <a:r>
              <a:rPr lang="en-US" altLang="ko-KR" dirty="0"/>
              <a:t>, </a:t>
            </a:r>
            <a:r>
              <a:rPr lang="ko-KR" altLang="en-US" dirty="0"/>
              <a:t>다른 사람은 결혼까지 생각할 수도 있다</a:t>
            </a:r>
            <a:r>
              <a:rPr lang="en-US" altLang="ko-KR" dirty="0"/>
              <a:t>. </a:t>
            </a:r>
            <a:r>
              <a:rPr lang="ko-KR" altLang="en-US" dirty="0"/>
              <a:t>단순히 </a:t>
            </a:r>
            <a:r>
              <a:rPr lang="en-US" altLang="ko-KR" dirty="0"/>
              <a:t>match</a:t>
            </a:r>
            <a:r>
              <a:rPr lang="ko-KR" altLang="en-US" dirty="0"/>
              <a:t>가 성사되는 것만으로 모르는 이런 목적들을 포함시킬 수도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Like</a:t>
            </a:r>
            <a:r>
              <a:rPr lang="ko-KR" altLang="en-US" dirty="0"/>
              <a:t>를 자주 보내는 </a:t>
            </a:r>
            <a:r>
              <a:rPr lang="en-US" altLang="ko-KR" dirty="0"/>
              <a:t>active user</a:t>
            </a:r>
            <a:r>
              <a:rPr lang="ko-KR" altLang="en-US" dirty="0"/>
              <a:t>와 그렇지 않은 </a:t>
            </a:r>
            <a:r>
              <a:rPr lang="en-US" altLang="ko-KR" dirty="0"/>
              <a:t>passive user</a:t>
            </a:r>
            <a:r>
              <a:rPr lang="ko-KR" altLang="en-US" dirty="0"/>
              <a:t>를 구분하는 것도 중요한 과제이다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095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327AF-2489-434A-B65C-C0F73038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강점과 약점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4F1471-1732-49E2-9253-C398C1EEB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강점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성공적인 만남의 지표를 상호 </a:t>
            </a:r>
            <a:r>
              <a:rPr lang="en-US" altLang="ko-KR" dirty="0"/>
              <a:t>like</a:t>
            </a:r>
            <a:r>
              <a:rPr lang="ko-KR" altLang="en-US" dirty="0"/>
              <a:t>로 삼아 객관적인 평가를 할 수 있었다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</a:p>
          <a:p>
            <a:r>
              <a:rPr lang="ko-KR" altLang="en-US" dirty="0"/>
              <a:t>약점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왜 굳이 </a:t>
            </a:r>
            <a:r>
              <a:rPr lang="en-US" altLang="ko-KR" dirty="0"/>
              <a:t>cross ratio </a:t>
            </a:r>
            <a:r>
              <a:rPr lang="en-US" altLang="ko-KR" dirty="0" err="1"/>
              <a:t>uninorm</a:t>
            </a:r>
            <a:r>
              <a:rPr lang="ko-KR" altLang="en-US" dirty="0"/>
              <a:t>을 사용했는 지 알 수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개선점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다른 함수도 사용해본다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9035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765</Words>
  <Application>Microsoft Office PowerPoint</Application>
  <PresentationFormat>와이드스크린</PresentationFormat>
  <Paragraphs>75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Cambria Math</vt:lpstr>
      <vt:lpstr>Office 테마</vt:lpstr>
      <vt:lpstr>Latent Factor Models and Aggregation Operators for Collaborative Filtering in Reciprocal Recommender Systems</vt:lpstr>
      <vt:lpstr>Introduction</vt:lpstr>
      <vt:lpstr>Introduction</vt:lpstr>
      <vt:lpstr>Aggregation Operators</vt:lpstr>
      <vt:lpstr>Latent Factor Model for Reciprocal Recommendation</vt:lpstr>
      <vt:lpstr>LFRR Algorithm*</vt:lpstr>
      <vt:lpstr>Evaluation</vt:lpstr>
      <vt:lpstr>Evaluation</vt:lpstr>
      <vt:lpstr>Evaluation Results</vt:lpstr>
      <vt:lpstr>Evaluation Results</vt:lpstr>
      <vt:lpstr>Conclusions and Future Work</vt:lpstr>
      <vt:lpstr>강점과 약점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 Factor Models and Aggregation Operators for Collaborative Filtering in Reciprocal Recommender Systems</dc:title>
  <dc:creator>박범규</dc:creator>
  <cp:lastModifiedBy>박범규</cp:lastModifiedBy>
  <cp:revision>29</cp:revision>
  <dcterms:created xsi:type="dcterms:W3CDTF">2021-02-22T04:50:32Z</dcterms:created>
  <dcterms:modified xsi:type="dcterms:W3CDTF">2021-03-17T16:35:59Z</dcterms:modified>
</cp:coreProperties>
</file>