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3C894-ACCC-43E2-8A37-B83A30B8C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E24FFF-2542-4167-9C45-B4A407A53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D21187-C1A9-4A70-95F9-543E50B64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75D7-0717-4F77-907D-4DF8587CD413}" type="datetimeFigureOut">
              <a:rPr lang="ko-KR" altLang="en-US" smtClean="0"/>
              <a:t>2021-02-17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5C169F-1C57-4A73-9BCE-7C969E789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613407-64BF-4872-B099-C1848F977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265DA-0BC4-4003-8341-B606929B4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179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DE601-B9AA-4463-BD91-20D2C4F6B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910309-A2F9-4E4C-8AB7-78421AF98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BA785E-7907-47DA-AB01-0EFF4FEDF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75D7-0717-4F77-907D-4DF8587CD413}" type="datetimeFigureOut">
              <a:rPr lang="ko-KR" altLang="en-US" smtClean="0"/>
              <a:t>2021-02-17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98A5D6-DCBF-43AA-973F-73367874B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572545-C0B2-477C-90B3-BBBDCC42C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265DA-0BC4-4003-8341-B606929B4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504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F0350-D981-4C57-88EE-004C5CCDD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0C2C4B-19A1-4480-83EB-7FC168B58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C77395-8405-4D66-A6B5-CF1153EAC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75D7-0717-4F77-907D-4DF8587CD413}" type="datetimeFigureOut">
              <a:rPr lang="ko-KR" altLang="en-US" smtClean="0"/>
              <a:t>2021-02-17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23FC3-6467-48A7-B86A-89F899923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7668E7-83EC-455D-8534-FDAFFE80B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265DA-0BC4-4003-8341-B606929B4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847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944695-109C-4311-92E9-5762A2C3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76AADA-13B4-4EBE-8838-046BDF244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33BBBA-B4C0-44C9-AF11-173766BDB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C22F86-C8C6-414F-9FAA-C38D12CF8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75D7-0717-4F77-907D-4DF8587CD413}" type="datetimeFigureOut">
              <a:rPr lang="ko-KR" altLang="en-US" smtClean="0"/>
              <a:t>2021-02-17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9459EA-F8F3-43CF-A86F-BC86CBD1E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335717-C69F-45DC-A32C-B43606BAD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265DA-0BC4-4003-8341-B606929B4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60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15AD1A-63B3-494F-8C25-ACD06C76C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53524B-1C1E-4997-914B-86BE8FF35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1618EA-4FC3-48CF-947B-005409E11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FA3F0D-EE44-4349-925F-EAAF870B8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BC56BE-3395-46AA-9E15-DE17A6AA3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0C4522A-B989-48CF-8421-9956F6ECD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75D7-0717-4F77-907D-4DF8587CD413}" type="datetimeFigureOut">
              <a:rPr lang="ko-KR" altLang="en-US" smtClean="0"/>
              <a:t>2021-02-17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2E6428-6F94-46BC-9C5A-4DC819D5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2188688-9B88-4F63-8CE1-62B510DF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265DA-0BC4-4003-8341-B606929B4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4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EE56E-7328-4709-B027-FD4B1598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681624-0C1F-491E-A419-45149583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75D7-0717-4F77-907D-4DF8587CD413}" type="datetimeFigureOut">
              <a:rPr lang="ko-KR" altLang="en-US" smtClean="0"/>
              <a:t>2021-02-17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A375FD-58BA-44FB-8CBD-596B49D29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76D632-5807-4FD8-B875-FEB60E1A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265DA-0BC4-4003-8341-B606929B4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91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24FAA2-7A7E-4ADF-9ADE-B0CF1DBD3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75D7-0717-4F77-907D-4DF8587CD413}" type="datetimeFigureOut">
              <a:rPr lang="ko-KR" altLang="en-US" smtClean="0"/>
              <a:t>2021-02-17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945D3E-357C-4E60-A3E6-273B1C91A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415B56-C81E-4E70-8620-B91C5A8EC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265DA-0BC4-4003-8341-B606929B4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20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E0355-6786-431C-A268-3B522CAEE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ADDC23-9BAF-45C3-8B98-0ACD67C82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0EC759-CC27-4A8D-A1B2-80141325C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C4EC7D-664D-442B-AA50-CC07DE05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75D7-0717-4F77-907D-4DF8587CD413}" type="datetimeFigureOut">
              <a:rPr lang="ko-KR" altLang="en-US" smtClean="0"/>
              <a:t>2021-02-17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C9559F-81B8-4313-9CD7-DC293B04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C6884B-E4E1-41E2-BB99-FFCEA72D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265DA-0BC4-4003-8341-B606929B4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1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D7724-C92C-4888-9DD7-39E2B2DD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1EA1FF-6EA3-48BF-A32C-5F0766334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6EAB06-8883-4DA2-8C42-04FA92807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867F34-562F-4FE1-8D46-88CB4E083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75D7-0717-4F77-907D-4DF8587CD413}" type="datetimeFigureOut">
              <a:rPr lang="ko-KR" altLang="en-US" smtClean="0"/>
              <a:t>2021-02-17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E21F99-CD1B-4DB8-B1BC-1D8936A72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844ADC-E34B-475C-9F04-90D781EF7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265DA-0BC4-4003-8341-B606929B4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38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B6997-8181-481D-966D-57A0E1C3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BFE6E9-4D86-4ADB-B3D2-7CA1696DD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9C8A17-58D2-4677-90D5-5217CA38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75D7-0717-4F77-907D-4DF8587CD413}" type="datetimeFigureOut">
              <a:rPr lang="ko-KR" altLang="en-US" smtClean="0"/>
              <a:t>2021-02-17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B8A988-6AB7-4B09-8983-32B3104DE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DF1525-79AA-47BE-A3EF-B88DF5CE2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265DA-0BC4-4003-8341-B606929B4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817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DAC97DA-82D1-4395-89BD-4DB156E18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AF3D13-90B7-41ED-BF9C-3739A58E7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DC6AE0-5429-4DC5-A791-0A8569AD5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75D7-0717-4F77-907D-4DF8587CD413}" type="datetimeFigureOut">
              <a:rPr lang="ko-KR" altLang="en-US" smtClean="0"/>
              <a:t>2021-02-17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DF14BA-6EAD-46D7-9106-96B6F8098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EBB532-33F2-4348-8F2A-757B20D08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265DA-0BC4-4003-8341-B606929B4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97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34FB394-9B7D-4C6D-85F4-0B1C31C1C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73F38-E048-4732-B1F3-BA30F0938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815F15-D103-4AC0-9B9C-0677722AB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E75D7-0717-4F77-907D-4DF8587CD413}" type="datetimeFigureOut">
              <a:rPr lang="ko-KR" altLang="en-US" smtClean="0"/>
              <a:t>2021-02-17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8271B7-0423-43D0-872F-02599616E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F60F90-A61E-40B9-9DF4-653F5F60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265DA-0BC4-4003-8341-B606929B4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68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C878F5-46A6-427C-9BF9-546B60143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Matrix Factorization Techniques for Recommender Systems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9037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1BAD99-ECF2-4ACA-9B45-5693219B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A48E27-9C72-4E3E-AC2D-F09D415BB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고객이 접하는 상품의 선택지가 크게 증가하면서</a:t>
            </a:r>
            <a:r>
              <a:rPr lang="en-US" altLang="ko-KR" dirty="0"/>
              <a:t>, Amazon</a:t>
            </a:r>
            <a:r>
              <a:rPr lang="ko-KR" altLang="en-US" dirty="0"/>
              <a:t>과 </a:t>
            </a:r>
            <a:r>
              <a:rPr lang="en-US" altLang="ko-KR" dirty="0"/>
              <a:t>Netflix </a:t>
            </a:r>
            <a:r>
              <a:rPr lang="ko-KR" altLang="en-US" dirty="0"/>
              <a:t>등의 기업은 최적의 추천을 해주는 것이</a:t>
            </a:r>
            <a:r>
              <a:rPr lang="en-US" altLang="ko-KR" dirty="0"/>
              <a:t> </a:t>
            </a:r>
            <a:r>
              <a:rPr lang="ko-KR" altLang="en-US" dirty="0"/>
              <a:t>주요 목표가 되었다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특히 영화</a:t>
            </a:r>
            <a:r>
              <a:rPr lang="en-US" altLang="ko-KR" dirty="0"/>
              <a:t>, </a:t>
            </a:r>
            <a:r>
              <a:rPr lang="ko-KR" altLang="en-US" dirty="0"/>
              <a:t>음악 등을 서비스하는 </a:t>
            </a:r>
            <a:r>
              <a:rPr lang="ko-KR" altLang="en-US" dirty="0" err="1"/>
              <a:t>넷플릭스는</a:t>
            </a:r>
            <a:r>
              <a:rPr lang="ko-KR" altLang="en-US" dirty="0"/>
              <a:t> 고객들이 평가한 만족도를 방대한 데이터로서 가지고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데이터를 이용해 추천 시스템을 짤 수 있을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8003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0DE5B-060B-4463-9660-6304777A4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Recommender System Strategies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AC5BAE-2E61-4008-BC06-2100C6211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추천 시스템은 크게 </a:t>
            </a:r>
            <a:r>
              <a:rPr lang="en-US" altLang="ko-KR" dirty="0"/>
              <a:t>content filtering, collaborative filtering</a:t>
            </a:r>
            <a:r>
              <a:rPr lang="ko-KR" altLang="en-US" dirty="0"/>
              <a:t>으로 나뉜다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Content</a:t>
            </a:r>
            <a:r>
              <a:rPr lang="ko-KR" altLang="en-US" dirty="0"/>
              <a:t> </a:t>
            </a:r>
            <a:r>
              <a:rPr lang="en-US" altLang="ko-KR" dirty="0"/>
              <a:t>filtering</a:t>
            </a:r>
            <a:r>
              <a:rPr lang="ko-KR" altLang="en-US" dirty="0"/>
              <a:t>이란 유저와 아이템에 대해 프로필을 만들어 두고</a:t>
            </a:r>
            <a:r>
              <a:rPr lang="en-US" altLang="ko-KR" dirty="0"/>
              <a:t>, </a:t>
            </a:r>
            <a:r>
              <a:rPr lang="ko-KR" altLang="en-US" dirty="0"/>
              <a:t>이를 기반으로 추천하는 방식이다</a:t>
            </a:r>
            <a:r>
              <a:rPr lang="en-US" altLang="ko-KR" dirty="0"/>
              <a:t>. </a:t>
            </a:r>
            <a:r>
              <a:rPr lang="ko-KR" altLang="en-US" dirty="0"/>
              <a:t>예를 들어 유저의 성별</a:t>
            </a:r>
            <a:r>
              <a:rPr lang="en-US" altLang="ko-KR" dirty="0"/>
              <a:t>, </a:t>
            </a:r>
            <a:r>
              <a:rPr lang="ko-KR" altLang="en-US" dirty="0"/>
              <a:t>나이 등의 정보나 영화의 장르 등을 저장할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Collaborative filtering</a:t>
            </a:r>
            <a:r>
              <a:rPr lang="ko-KR" altLang="en-US" dirty="0"/>
              <a:t>은 각 유저나 아이템의 정보가 아닌</a:t>
            </a:r>
            <a:r>
              <a:rPr lang="en-US" altLang="ko-KR" dirty="0"/>
              <a:t>, </a:t>
            </a:r>
            <a:r>
              <a:rPr lang="ko-KR" altLang="en-US" dirty="0"/>
              <a:t>유저가 선택한 아이템에 대한 기록을 통해 추천한다</a:t>
            </a:r>
            <a:r>
              <a:rPr lang="en-US" altLang="ko-KR" dirty="0"/>
              <a:t>. Content filtering</a:t>
            </a:r>
            <a:r>
              <a:rPr lang="ko-KR" altLang="en-US" dirty="0"/>
              <a:t>에 비해 정밀하고</a:t>
            </a:r>
            <a:r>
              <a:rPr lang="en-US" altLang="ko-KR" dirty="0"/>
              <a:t>, </a:t>
            </a:r>
            <a:r>
              <a:rPr lang="ko-KR" altLang="en-US" dirty="0"/>
              <a:t>모호한 특성도 더 잘 찾지만</a:t>
            </a:r>
            <a:r>
              <a:rPr lang="en-US" altLang="ko-KR" dirty="0"/>
              <a:t>, </a:t>
            </a:r>
            <a:r>
              <a:rPr lang="ko-KR" altLang="en-US" dirty="0"/>
              <a:t>초기 시작이 더 힘든 한계를 가진다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1206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09EADF-14F5-4268-82AE-439FFEDB9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Collaborative filtering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297B52-6E61-499F-A377-2D63C210D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Collaborative filtering</a:t>
            </a:r>
            <a:r>
              <a:rPr lang="ko-KR" altLang="en-US" dirty="0"/>
              <a:t>은 또다시 두 분야로 나뉜다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Neighborhood method</a:t>
            </a:r>
            <a:r>
              <a:rPr lang="ko-KR" altLang="en-US" dirty="0"/>
              <a:t>는 서로 비슷한 유저</a:t>
            </a:r>
            <a:r>
              <a:rPr lang="en-US" altLang="ko-KR" dirty="0"/>
              <a:t>, </a:t>
            </a:r>
            <a:r>
              <a:rPr lang="ko-KR" altLang="en-US" dirty="0"/>
              <a:t>혹은 아이템을 찾는 방식이다</a:t>
            </a:r>
            <a:r>
              <a:rPr lang="en-US" altLang="ko-KR" dirty="0"/>
              <a:t>. </a:t>
            </a:r>
            <a:r>
              <a:rPr lang="ko-KR" altLang="en-US" dirty="0"/>
              <a:t>예를 들어 유저 </a:t>
            </a:r>
            <a:r>
              <a:rPr lang="en-US" altLang="ko-KR" dirty="0"/>
              <a:t>A, B</a:t>
            </a:r>
            <a:r>
              <a:rPr lang="ko-KR" altLang="en-US" dirty="0"/>
              <a:t>가 모두 영화 </a:t>
            </a:r>
            <a:r>
              <a:rPr lang="en-US" altLang="ko-KR" dirty="0"/>
              <a:t>X, Y, Z</a:t>
            </a:r>
            <a:r>
              <a:rPr lang="ko-KR" altLang="en-US" dirty="0"/>
              <a:t>를 좋아한다면</a:t>
            </a:r>
            <a:r>
              <a:rPr lang="en-US" altLang="ko-KR" dirty="0"/>
              <a:t>, A</a:t>
            </a:r>
            <a:r>
              <a:rPr lang="ko-KR" altLang="en-US" dirty="0"/>
              <a:t>는 </a:t>
            </a:r>
            <a:r>
              <a:rPr lang="en-US" altLang="ko-KR" dirty="0"/>
              <a:t>B</a:t>
            </a:r>
            <a:r>
              <a:rPr lang="ko-KR" altLang="en-US" dirty="0"/>
              <a:t>가 좋아하는 영화 </a:t>
            </a:r>
            <a:r>
              <a:rPr lang="en-US" altLang="ko-KR" dirty="0"/>
              <a:t>W</a:t>
            </a:r>
            <a:r>
              <a:rPr lang="ko-KR" altLang="en-US" dirty="0"/>
              <a:t>도 마찬가지로 좋아할 확률이 높기에 이를 추천해줄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Latent factor model</a:t>
            </a:r>
            <a:r>
              <a:rPr lang="ko-KR" altLang="en-US" dirty="0"/>
              <a:t>은 유저와 아이템을 동시에 파악하는 방식으로</a:t>
            </a:r>
            <a:r>
              <a:rPr lang="en-US" altLang="ko-KR" dirty="0"/>
              <a:t>, </a:t>
            </a:r>
            <a:r>
              <a:rPr lang="ko-KR" altLang="en-US" dirty="0"/>
              <a:t>최근 각광받고 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matrix factorization</a:t>
            </a:r>
            <a:r>
              <a:rPr lang="ko-KR" altLang="en-US" dirty="0"/>
              <a:t>을 통한 모델이 큰 성과를 내고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2412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BDD05-198A-47D4-806E-BDA826462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Matrix Factorization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9C7F89-31F9-46A2-99A9-AAADF19A5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Matrix factorization</a:t>
            </a:r>
            <a:r>
              <a:rPr lang="ko-KR" altLang="en-US" dirty="0"/>
              <a:t>은 각 유저와 아이템에 대해</a:t>
            </a:r>
            <a:r>
              <a:rPr lang="en-US" altLang="ko-KR" dirty="0"/>
              <a:t> </a:t>
            </a:r>
            <a:r>
              <a:rPr lang="ko-KR" altLang="en-US" dirty="0"/>
              <a:t>특성 벡터를 만들고</a:t>
            </a:r>
            <a:r>
              <a:rPr lang="en-US" altLang="ko-KR" dirty="0"/>
              <a:t>, </a:t>
            </a:r>
            <a:r>
              <a:rPr lang="ko-KR" altLang="en-US" dirty="0"/>
              <a:t>유사한 특성 벡터를 가진 유저와 아이템을 이어준다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데이터는 </a:t>
            </a:r>
            <a:r>
              <a:rPr lang="en-US" altLang="ko-KR" dirty="0"/>
              <a:t>explicit data</a:t>
            </a:r>
            <a:r>
              <a:rPr lang="ko-KR" altLang="en-US" dirty="0"/>
              <a:t>와 </a:t>
            </a:r>
            <a:r>
              <a:rPr lang="en-US" altLang="ko-KR" dirty="0"/>
              <a:t>implicit</a:t>
            </a:r>
            <a:r>
              <a:rPr lang="ko-KR" altLang="en-US" dirty="0"/>
              <a:t> </a:t>
            </a:r>
            <a:r>
              <a:rPr lang="en-US" altLang="ko-KR" dirty="0"/>
              <a:t>data</a:t>
            </a:r>
            <a:r>
              <a:rPr lang="ko-KR" altLang="en-US" dirty="0"/>
              <a:t>로 나뉜다</a:t>
            </a:r>
            <a:r>
              <a:rPr lang="en-US" altLang="ko-KR" dirty="0"/>
              <a:t>. Explicit data</a:t>
            </a:r>
            <a:r>
              <a:rPr lang="ko-KR" altLang="en-US" dirty="0"/>
              <a:t>는 흔히 평점으로 대표되는</a:t>
            </a:r>
            <a:r>
              <a:rPr lang="en-US" altLang="ko-KR" dirty="0"/>
              <a:t>, </a:t>
            </a:r>
            <a:r>
              <a:rPr lang="ko-KR" altLang="en-US" dirty="0"/>
              <a:t>유저가 자신의 선호도를 직접 표시한 데이터이고</a:t>
            </a:r>
            <a:r>
              <a:rPr lang="en-US" altLang="ko-KR" dirty="0"/>
              <a:t>, implicit data</a:t>
            </a:r>
            <a:r>
              <a:rPr lang="ko-KR" altLang="en-US" dirty="0"/>
              <a:t>는 상품 이용 기록</a:t>
            </a:r>
            <a:r>
              <a:rPr lang="en-US" altLang="ko-KR" dirty="0"/>
              <a:t>, </a:t>
            </a:r>
            <a:r>
              <a:rPr lang="ko-KR" altLang="en-US" dirty="0"/>
              <a:t>조회 기록 등 간접적으로 관심을 표한 상품에 대한 데이터이다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Matrix factorization</a:t>
            </a:r>
            <a:r>
              <a:rPr lang="ko-KR" altLang="en-US" dirty="0"/>
              <a:t>에서는 </a:t>
            </a:r>
            <a:r>
              <a:rPr lang="en-US" altLang="ko-KR" dirty="0"/>
              <a:t>explicit data</a:t>
            </a:r>
            <a:r>
              <a:rPr lang="ko-KR" altLang="en-US" dirty="0"/>
              <a:t>를 사용한다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8040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CA87C-37D9-43D6-ACCC-052F88A7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Matrix</a:t>
            </a:r>
            <a:r>
              <a:rPr lang="ko-KR" altLang="en-US" dirty="0"/>
              <a:t> </a:t>
            </a:r>
            <a:r>
              <a:rPr lang="en-US" altLang="ko-KR" dirty="0"/>
              <a:t>Factorization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8E2E469-3B93-4550-B447-AF9D815BF1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특성의 개수</a:t>
                </a:r>
                <a:endParaRPr lang="en-US" altLang="ko-KR" dirty="0"/>
              </a:p>
              <a:p>
                <a:r>
                  <a:rPr lang="ko-KR" altLang="en-US" dirty="0"/>
                  <a:t>아이템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dirty="0"/>
                  <a:t>의 벡터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p>
                    </m:sSup>
                  </m:oMath>
                </a14:m>
                <a:endParaRPr lang="en-US" altLang="ko-KR" b="0" dirty="0">
                  <a:ea typeface="Cambria Math" panose="02040503050406030204" pitchFamily="18" charset="0"/>
                </a:endParaRPr>
              </a:p>
              <a:p>
                <a:r>
                  <a:rPr lang="ko-KR" altLang="en-US" dirty="0"/>
                  <a:t>유저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ko-KR" altLang="en-US" dirty="0"/>
                  <a:t>의 벡터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r>
                  <a:rPr lang="ko-KR" altLang="en-US" dirty="0"/>
                  <a:t>유저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ko-KR" altLang="en-US" dirty="0"/>
                  <a:t>의 아이템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dirty="0"/>
                  <a:t>에 대한 평가</a:t>
                </a:r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𝑢𝑖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r>
                  <a:rPr lang="ko-KR" altLang="en-US" dirty="0"/>
                  <a:t>추천 시스템에 의한 예측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r>
                  <a:rPr lang="ko-KR" altLang="en-US" dirty="0"/>
                  <a:t>특성 벡터를 전부 채워 넣기는 매우 힘들다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따라서 다음 식을 통해 최적화한다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el-GR" altLang="ko-KR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κ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𝑢𝑖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………(1)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ko-KR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κ</m:t>
                    </m:r>
                  </m:oMath>
                </a14:m>
                <a:r>
                  <a:rPr lang="en-US" altLang="ko-KR" dirty="0"/>
                  <a:t>: training set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8E2E469-3B93-4550-B447-AF9D815BF1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6597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B43236-FDF7-4987-849A-9A58722D9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Learning 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93CF8EF-6ACD-45A6-9FEC-0059559B52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ko-KR" altLang="en-US" dirty="0"/>
                  <a:t>식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을 최소화 시키는 데에는 두 가지의 접근 방식이 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먼저 </a:t>
                </a:r>
                <a:r>
                  <a:rPr lang="en-US" altLang="ko-KR" dirty="0"/>
                  <a:t>stochastic gradient descent</a:t>
                </a:r>
                <a:r>
                  <a:rPr lang="ko-KR" altLang="en-US" dirty="0"/>
                  <a:t>는 오차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ko-KR" altLang="en-US" dirty="0"/>
                  <a:t>를 최소화 시키기 위해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dirty="0"/>
                  <a:t> 대한 </a:t>
                </a:r>
                <a:r>
                  <a:rPr lang="en-US" altLang="ko-KR" dirty="0"/>
                  <a:t>gradient</a:t>
                </a:r>
                <a:r>
                  <a:rPr lang="ko-KR" altLang="en-US" dirty="0"/>
                  <a:t>를 계산한다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∙(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𝑢𝑖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∙(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𝑢𝑖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r>
                  <a:rPr lang="ko-KR" altLang="en-US" dirty="0"/>
                  <a:t>두번째 방법은 </a:t>
                </a:r>
                <a:r>
                  <a:rPr lang="en-US" altLang="ko-KR" dirty="0"/>
                  <a:t>alternating least squares(ALS)</a:t>
                </a:r>
                <a:r>
                  <a:rPr lang="ko-KR" altLang="en-US" dirty="0"/>
                  <a:t>이다</a:t>
                </a:r>
                <a:r>
                  <a:rPr lang="en-US" altLang="ko-KR" dirty="0"/>
                  <a:t>.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먼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저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ko-KR" altLang="en-US" dirty="0"/>
                  <a:t>를 초기화한다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그리고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ko-KR" altLang="en-US" dirty="0"/>
                  <a:t>를 고정하면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/>
                  <a:t>에 대한 단순 </a:t>
                </a:r>
                <a:r>
                  <a:rPr lang="en-US" altLang="ko-KR" dirty="0"/>
                  <a:t>least-squares problem</a:t>
                </a:r>
                <a:r>
                  <a:rPr lang="ko-KR" altLang="en-US" dirty="0"/>
                  <a:t>이 되기 때문에 새로운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/>
                  <a:t> 값을 찾을 수 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이후 마찬가지로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ko-KR" altLang="en-US" dirty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번갈아 고정하면서 최적의 값을 찾아 나간다</a:t>
                </a:r>
                <a:r>
                  <a:rPr lang="en-US" altLang="ko-KR" dirty="0"/>
                  <a:t>.</a:t>
                </a:r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93CF8EF-6ACD-45A6-9FEC-0059559B5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 r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3397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8CB06-18FB-4978-B235-9432658A9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Adding Bias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804FB2A-B200-4DB9-B0A2-C55B78ADC6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기본적인 모델은 위와 같으나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여러 가지 문제가 남아 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대표적으로 치우침</a:t>
                </a:r>
                <a:r>
                  <a:rPr lang="en-US" altLang="ko-KR" dirty="0"/>
                  <a:t>(bias) </a:t>
                </a:r>
                <a:r>
                  <a:rPr lang="ko-KR" altLang="en-US" dirty="0"/>
                  <a:t>문제가 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가령 어떤 유저들은 다른 유저들에 비해 점수를 높게 주는 경향이 </a:t>
                </a:r>
                <a:r>
                  <a:rPr lang="ko-KR" altLang="en-US" dirty="0" err="1"/>
                  <a:t>있다거나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명작으로 널리 알려진 경우가 있을 수 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이에 다음과 같이 모델을 변경할 수 있다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𝑢𝑖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평점 평균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아이템에 대한 </a:t>
                </a:r>
                <a:r>
                  <a:rPr lang="en-US" altLang="ko-KR" dirty="0"/>
                  <a:t>bias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유저에 대한 </a:t>
                </a:r>
                <a:r>
                  <a:rPr lang="en-US" altLang="ko-KR" dirty="0"/>
                  <a:t>bias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804FB2A-B200-4DB9-B0A2-C55B78ADC6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348" b="-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5683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4BC24-9AEA-4DD0-A320-D7841CF42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Temporal Dynamics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68EA261-B810-41F7-8C9D-3B95904E6A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유저의 취향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영화의 평판 등은 시간에 따라 바뀌는 것들이다</a:t>
                </a:r>
                <a:r>
                  <a:rPr lang="en-US" altLang="ko-KR" dirty="0"/>
                  <a:t>.</a:t>
                </a:r>
                <a:r>
                  <a:rPr lang="ko-KR" altLang="en-US" dirty="0"/>
                  <a:t> 그러므로 다음과 같은 꼴로 정의할 수 있다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altLang="ko-KR" dirty="0"/>
                  <a:t>(t)</a:t>
                </a:r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68EA261-B810-41F7-8C9D-3B95904E6A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0517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D42F0-DBEA-41E3-89FA-04F6BAEFB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Inputs with Varying Confidence Levels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4DFA4F9-B1F6-42CA-92D6-42CC653D95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ko-KR" altLang="en-US" dirty="0"/>
                  <a:t>모든 평점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행위 등이 동등한 가치를 지니는 것은 아니다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우연히 클릭하게 될 수도 있고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광고로 인한 일시적 영향이 있을 수도 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따라서 다음과 같이 </a:t>
                </a:r>
                <a:r>
                  <a:rPr lang="en-US" altLang="ko-KR" dirty="0"/>
                  <a:t>confidence level</a:t>
                </a:r>
                <a:r>
                  <a:rPr lang="ko-KR" altLang="en-US" dirty="0"/>
                  <a:t>을 적용하는 것이 타당하다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el-GR" altLang="ko-K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κ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𝑢𝑖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𝑢𝑖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4DFA4F9-B1F6-42CA-92D6-42CC653D95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30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7969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</TotalTime>
  <Words>617</Words>
  <Application>Microsoft Office PowerPoint</Application>
  <PresentationFormat>와이드스크린</PresentationFormat>
  <Paragraphs>47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Cambria Math</vt:lpstr>
      <vt:lpstr>Office 테마</vt:lpstr>
      <vt:lpstr>Matrix Factorization Techniques for Recommender Systems</vt:lpstr>
      <vt:lpstr>Introduction</vt:lpstr>
      <vt:lpstr>Recommender System Strategies</vt:lpstr>
      <vt:lpstr>Collaborative filtering</vt:lpstr>
      <vt:lpstr>Matrix Factorization</vt:lpstr>
      <vt:lpstr>Matrix Factorization</vt:lpstr>
      <vt:lpstr>Learning Algorithm</vt:lpstr>
      <vt:lpstr>Adding Bias</vt:lpstr>
      <vt:lpstr>Temporal Dynamics</vt:lpstr>
      <vt:lpstr>Inputs with Varying Confidence Levels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Matrix Factorization Techniques for Recommender Systems</dc:title>
  <dc:creator>박범규</dc:creator>
  <cp:lastModifiedBy>박범규</cp:lastModifiedBy>
  <cp:revision>27</cp:revision>
  <dcterms:created xsi:type="dcterms:W3CDTF">2021-02-09T13:22:56Z</dcterms:created>
  <dcterms:modified xsi:type="dcterms:W3CDTF">2021-02-17T14:39:25Z</dcterms:modified>
</cp:coreProperties>
</file>