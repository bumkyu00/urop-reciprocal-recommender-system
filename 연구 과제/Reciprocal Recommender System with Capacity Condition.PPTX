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7" r:id="rId6"/>
    <p:sldId id="268" r:id="rId7"/>
    <p:sldId id="262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지표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LFRR</c:v>
                </c:pt>
                <c:pt idx="1">
                  <c:v>FAR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2.76</c:v>
                </c:pt>
                <c:pt idx="1">
                  <c:v>3.42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51-4CB6-BBF3-7027F068E2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7952824"/>
        <c:axId val="567963320"/>
      </c:barChart>
      <c:catAx>
        <c:axId val="567952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7963320"/>
        <c:crosses val="autoZero"/>
        <c:auto val="1"/>
        <c:lblAlgn val="ctr"/>
        <c:lblOffset val="100"/>
        <c:noMultiLvlLbl val="0"/>
      </c:catAx>
      <c:valAx>
        <c:axId val="567963320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7952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지표 </a:t>
            </a:r>
            <a:r>
              <a:rPr lang="en-US" altLang="ko-KR" dirty="0"/>
              <a:t>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지표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LFRR</c:v>
                </c:pt>
                <c:pt idx="1">
                  <c:v>FAR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313</c:v>
                </c:pt>
                <c:pt idx="1">
                  <c:v>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28-4995-ADAF-DD1972787A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7952824"/>
        <c:axId val="567963320"/>
      </c:barChart>
      <c:catAx>
        <c:axId val="567952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7963320"/>
        <c:crosses val="autoZero"/>
        <c:auto val="1"/>
        <c:lblAlgn val="ctr"/>
        <c:lblOffset val="100"/>
        <c:noMultiLvlLbl val="0"/>
      </c:catAx>
      <c:valAx>
        <c:axId val="567963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7952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3D1AD6-AF9F-4E91-AD19-85C22E9DD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A2B402-A04E-4B7E-B33D-7E7C7EC07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2F5E25-8A4A-4F10-A8A5-689E812FD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12564A-C197-49B0-8A10-A674C761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0E853A-9189-48DF-998A-6C2ABC5AE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01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8FB28-0036-4B09-8C02-49DC89CA0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5A4585-271D-46C3-9389-168991CA2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F65FD-82D4-4F4D-85E4-0EF52E230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53290-BEE8-4ACE-9A07-51D720F5A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C1640C-0241-4CC4-AC96-E605527F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839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C7BE1-B628-4978-8F7B-0AC3E5281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C2CBE0-D5DC-4662-BC5D-E40CAB2E4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1F638-D07C-4E43-803B-2F6BE4DB3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0D8B65-1AF4-4DBC-BEE2-E9BC715B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12C77-E9E9-4D57-85F5-A5B8BBE19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77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FA05B-01F8-4525-A440-4A5C7156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2A8EE-AD18-49CE-B9A3-414EC3A03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17947C-ED96-45A4-A8CF-8F9379999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308332-9665-4C8B-80D5-F704F80FD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4820B9-CEC1-4EFE-A0BD-DD10584CE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B4C3B6-E2D2-41B1-8AF1-D00FDB98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74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CAB38-8BA4-44A5-8980-1674C7096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FBBF25-A9D0-4766-A812-03D1C0A9A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0FF027-CD8E-4189-9CF2-B3E65C4BB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F7A19A-9169-4497-A971-9FE6AB36EC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C9955D-FF89-4958-8B55-14C31D5FC9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40063C4-5EDF-41BC-BD62-9C72FE1A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2021-06-24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4A2C10-F3B8-46DD-A27F-A5518B0A2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927A37-F562-487A-A9EF-58C56101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15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BF6F5-7F62-416F-B2D1-FF4B3ED7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1F7F7A-8875-487D-BF4A-6EC152FFC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2021-06-24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E6CB4F-95D6-4804-9AFF-0B6C71E8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4FE59B-BC1A-473D-B3AA-73A486A5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807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B3D0C6-F09F-42B5-AB78-79D750BC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2021-06-24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E57667-C85B-4FE5-A764-FA686AF10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3D84F6-D39E-4CAE-8747-50DB2F5F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458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2DED5-52F5-41F1-B67C-47CDF66FF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F8AEFA-298E-4592-B2A5-7AF77BF75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C9199D-5832-4D38-8776-C6624CFC2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D09CD6-0A4D-49B1-BD25-55E02B07D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E47C62-64E9-4AA9-883F-B79FC9A35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3CCAC6-2E5E-461D-A3B9-3B896F6B6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86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641039-5240-49E4-9ADC-B7305297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F16436-7029-4CD3-8C17-081CA933C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5A5746-98E0-405D-B56D-D117C6DD0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59685F-7AEA-432E-90E3-53646356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A5D084-09FA-43A1-9F95-EB132E44B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E2C9CB-45F3-4F4B-BAA2-479B5150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580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11D76-5D3C-4640-AE3B-6ABD4EC9F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F4A83D-40CD-4BC1-80B6-9B4EA1A13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F0429B-2711-432A-9FB4-B7DC662D0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FC452C-39B3-4CC6-9441-DFDEC4B74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1A2A4D-D787-4DF0-B766-4B275EB5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725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92CA09-7FD4-4280-8DEA-62151CAF6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D890F5-C34A-4C96-B4FB-7B84DB380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E709A5-F617-42FD-8EBD-B7F50264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A987-60E8-412C-9738-63799BAE6312}" type="datetimeFigureOut">
              <a:rPr lang="ko-KR" altLang="en-US" smtClean="0"/>
              <a:t>2021-06-24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1DFC6-FC0F-4764-AE62-EBB27AA08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3F6DFC-F334-448D-B5E3-A0D1F209A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8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67A314-26D5-434C-9B94-51B2DF234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9D9259-8480-4546-8CD9-92B5F5FDA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C95D28-A943-4C81-9AE6-DC111430B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2A987-60E8-412C-9738-63799BAE6312}" type="datetimeFigureOut">
              <a:rPr lang="ko-KR" altLang="en-US" smtClean="0"/>
              <a:t>2021-06-24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80FBEE-F7C1-4593-9D9B-8FC1BEEDB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7FB9B-A0AB-4524-9F74-95E4D9309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60B86-CB47-4497-8119-93228207AF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69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F155F7-5841-497E-8C2B-B24D2F2E6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Reciprocal Recommender System with Capacity Condition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659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40765-4270-4448-B99A-542B0BF9C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AF1B67A-A818-4609-89E2-78A20FB4F4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dirty="0"/>
                  <a:t>온라인 데이팅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플랫폼 등에서 두 유저가 서로 궁합을 보는 </a:t>
                </a:r>
                <a:r>
                  <a:rPr lang="en-US" altLang="ko-KR" dirty="0"/>
                  <a:t>Reciprocal Recommender System(RRS)</a:t>
                </a:r>
                <a:r>
                  <a:rPr lang="ko-KR" altLang="en-US" dirty="0"/>
                  <a:t>이 사용됨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그러나 기존 시스템에서는 특정 유저가 지나치게 많이 추천되는 현상이 발생함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연구 문제 </a:t>
                </a:r>
                <a:r>
                  <a:rPr lang="en-US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– </a:t>
                </a:r>
                <a:r>
                  <a:rPr lang="ko-KR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유저들 간 점수의 행렬 데이터 </a:t>
                </a:r>
                <a14:m>
                  <m:oMath xmlns:m="http://schemas.openxmlformats.org/officeDocument/2006/math">
                    <m:r>
                      <a:rPr lang="en-US" altLang="ko-KR" b="1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𝐑</m:t>
                    </m:r>
                  </m:oMath>
                </a14:m>
                <a:r>
                  <a:rPr lang="ko-KR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이 주어졌을 때</a:t>
                </a:r>
                <a:r>
                  <a:rPr lang="en-US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어떻게 하면 </a:t>
                </a:r>
                <a:r>
                  <a:rPr lang="en-US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1)</a:t>
                </a:r>
                <a:r>
                  <a:rPr lang="ko-KR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유저가 만족하도록 다른 유저를 추천하되</a:t>
                </a:r>
                <a:r>
                  <a:rPr lang="en-US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 2)</a:t>
                </a:r>
                <a:r>
                  <a:rPr lang="ko-KR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너무 많이 추천되는 유저가 없도록 할 것인가</a:t>
                </a:r>
                <a:r>
                  <a:rPr lang="en-US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?</a:t>
                </a:r>
                <a:endParaRPr lang="ko-KR" altLang="ko-KR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/>
                  <a:t>LFRR</a:t>
                </a:r>
                <a:r>
                  <a:rPr lang="ko-KR" altLang="en-US" dirty="0"/>
                  <a:t>을 기반으로 한 새로운 방법 </a:t>
                </a:r>
                <a:r>
                  <a:rPr lang="en-US" altLang="ko-KR" dirty="0"/>
                  <a:t>Feature Averaging Regularization</a:t>
                </a:r>
                <a:r>
                  <a:rPr lang="ko-KR" altLang="en-US" dirty="0"/>
                  <a:t>을 제안한다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AF1B67A-A818-4609-89E2-78A20FB4F4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6636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5863-5E4F-413D-8266-3D54E3B33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Related Works - LFRR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AD343ED-C66C-4443-9131-97FEB72B0D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altLang="ko-KR" dirty="0"/>
                  <a:t>Latent Factor Model for Reciprocal Recommendation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600" b="1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ko-KR" sz="2600" b="1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6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6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6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ko-KR" sz="2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6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ko-KR" sz="26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26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sz="2600" b="0" i="1" smtClean="0">
                            <a:latin typeface="Cambria Math" panose="02040503050406030204" pitchFamily="18" charset="0"/>
                          </a:rPr>
                          <m:t>𝑟𝑜𝑤𝑠</m:t>
                        </m:r>
                        <m:r>
                          <a:rPr lang="en-US" altLang="ko-KR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𝑐𝑜𝑙𝑜𝑢𝑚𝑛𝑠</m:t>
                        </m:r>
                      </m:sub>
                    </m:sSub>
                  </m:oMath>
                </a14:m>
                <a:r>
                  <a:rPr lang="en-US" altLang="ko-KR" sz="2600" dirty="0"/>
                  <a:t>: </a:t>
                </a:r>
                <a:r>
                  <a:rPr lang="ko-KR" altLang="en-US" sz="2600" dirty="0"/>
                  <a:t>유저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ko-KR" sz="2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sz="2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brk m:alnAt="7"/>
                      </m:rPr>
                      <a:rPr lang="en-US" altLang="ko-KR" sz="2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sz="26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600" b="1" dirty="0"/>
                  <a:t> </a:t>
                </a:r>
                <a:r>
                  <a:rPr lang="ko-KR" altLang="en-US" sz="2600" dirty="0"/>
                  <a:t>쌍들에 대해 주어진 데이터 행렬</a:t>
                </a:r>
                <a:endParaRPr lang="en-US" altLang="ko-KR" sz="2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ko-KR" dirty="0"/>
                  <a:t>:</a:t>
                </a:r>
                <a:r>
                  <a:rPr lang="en-US" altLang="ko-KR" b="1" dirty="0"/>
                  <a:t> </a:t>
                </a:r>
                <a:r>
                  <a:rPr lang="ko-KR" altLang="en-US" dirty="0"/>
                  <a:t>유저의 </a:t>
                </a:r>
                <a:r>
                  <a:rPr lang="en-US" altLang="ko-KR" dirty="0"/>
                  <a:t>feature vector</a:t>
                </a:r>
                <a:endParaRPr lang="en-US" altLang="ko-KR" b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en-US" altLang="ko-KR" b="1" i="0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r>
                  <a:rPr lang="ko-KR" altLang="en-US" dirty="0"/>
                  <a:t>위 식을 통해 </a:t>
                </a:r>
                <a:r>
                  <a:rPr lang="en-US" altLang="ko-KR" dirty="0"/>
                  <a:t>Stochastic Gradient Descent</a:t>
                </a:r>
                <a:r>
                  <a:rPr lang="ko-KR" altLang="en-US" dirty="0"/>
                  <a:t>를 사용한다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r>
                  <a:rPr lang="ko-KR" altLang="en-US" dirty="0"/>
                  <a:t>이렇게 나온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dirty="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dirty="0"/>
                  <a:t>를 </a:t>
                </a:r>
                <a:r>
                  <a:rPr lang="en-US" altLang="ko-KR" dirty="0"/>
                  <a:t>aggregation function</a:t>
                </a:r>
                <a:r>
                  <a:rPr lang="ko-KR" altLang="en-US" dirty="0"/>
                  <a:t>을 통해 합친다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AD343ED-C66C-4443-9131-97FEB72B0D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8833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014CC9-C289-49CE-A071-B87A434F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LFRR 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9431794-8CE7-4B81-A20B-BF26730136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65792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altLang="ko-KR" dirty="0"/>
                  <a:t>Input: Trained feature matrices U1, U2, V1, V2</a:t>
                </a:r>
              </a:p>
              <a:p>
                <a:r>
                  <a:rPr lang="en-US" altLang="ko-KR" dirty="0"/>
                  <a:t>Recs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←∅</m:t>
                    </m:r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for all b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Candidates do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if a is female then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	else</a:t>
                </a: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	end if</a:t>
                </a: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𝑟𝑒𝑐𝑖𝑝𝑟𝑜𝑐𝑎𝑙𝑆𝑐𝑜𝑟𝑒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𝐴𝑔𝑔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Recs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𝑅𝑒𝑐𝑠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𝑟𝑒𝑐𝑖𝑝𝑟𝑜𝑐𝑎𝑙𝑆𝑐𝑜𝑟𝑒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end for</a:t>
                </a:r>
              </a:p>
              <a:p>
                <a:pPr marL="0" indent="0">
                  <a:buNone/>
                </a:pPr>
                <a:r>
                  <a:rPr lang="en-US" altLang="ko-KR" dirty="0">
                    <a:ea typeface="Cambria Math" panose="02040503050406030204" pitchFamily="18" charset="0"/>
                  </a:rPr>
                  <a:t>return Recs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9431794-8CE7-4B81-A20B-BF26730136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65792"/>
              </a:xfrm>
              <a:blipFill>
                <a:blip r:embed="rId2"/>
                <a:stretch>
                  <a:fillRect l="-638" t="-24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0429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CED1D1-352E-41E0-B067-1019393CD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Averaging Regularization(FAR)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2C031EB-7925-4E9E-9EB8-776C66423E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dirty="0"/>
                  <a:t>기존 </a:t>
                </a:r>
                <a:r>
                  <a:rPr lang="en-US" altLang="ko-KR" dirty="0"/>
                  <a:t>LFRR </a:t>
                </a:r>
                <a:r>
                  <a:rPr lang="ko-KR" altLang="en-US" dirty="0"/>
                  <a:t>식에서</a:t>
                </a:r>
                <a:r>
                  <a:rPr lang="en-US" altLang="ko-KR" dirty="0"/>
                  <a:t> regularization </a:t>
                </a:r>
                <a:r>
                  <a:rPr lang="ko-KR" altLang="en-US" dirty="0"/>
                  <a:t>부분을 변형한다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ko-KR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𝑓𝑟𝑜𝑚</m:t>
                            </m:r>
                          </m:sup>
                        </m:sSup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ko-KR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ko-KR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𝑡𝑜</m:t>
                            </m:r>
                          </m:sup>
                        </m:sSup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유저 </a:t>
                </a:r>
                <a:r>
                  <a:rPr lang="en-US" altLang="ko-KR" dirty="0"/>
                  <a:t>a, b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feature vector. </a:t>
                </a:r>
                <a:r>
                  <a:rPr lang="ko-KR" altLang="en-US" dirty="0"/>
                  <a:t>각각 평가를 할 때와 받을 때를 나타낸다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ko-KR" altLang="ko-KR" sz="24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ko-KR" sz="24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24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ko-KR" sz="24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ko-KR" sz="24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ko-KR" sz="24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en-US" altLang="ko-KR" sz="2400" b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R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ko-KR" altLang="ko-KR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ko-KR" altLang="ko-KR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ko-KR" altLang="ko-KR" sz="2400" b="1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2400" b="1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𝐅</m:t>
                                    </m:r>
                                  </m:e>
                                  <m:sup>
                                    <m:r>
                                      <a:rPr lang="en-US" altLang="ko-KR" sz="24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𝑓𝑟𝑜𝑚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ko-KR" sz="24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altLang="ko-KR" sz="2400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ko-KR" altLang="ko-KR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ko-KR" altLang="ko-KR" sz="2400" b="1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ko-KR" altLang="ko-KR" sz="24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4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맑은 고딕" panose="020B0503020000020004" pitchFamily="50" charset="-127"/>
                                            <a:cs typeface="Times New Roman" panose="02020603050405020304" pitchFamily="18" charset="0"/>
                                          </a:rPr>
                                          <m:t>𝐅</m:t>
                                        </m:r>
                                      </m:e>
                                      <m:sup>
                                        <m:r>
                                          <a:rPr lang="en-US" altLang="ko-KR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맑은 고딕" panose="020B0503020000020004" pitchFamily="50" charset="-127"/>
                                            <a:cs typeface="Times New Roman" panose="02020603050405020304" pitchFamily="18" charset="0"/>
                                          </a:rPr>
                                          <m:t>𝑡𝑜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en-US" altLang="ko-KR" sz="2400" b="1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ko-KR" sz="2400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en-US" altLang="ko-KR" sz="2400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ko-KR" sz="24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ko-KR" sz="2400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R</m:t>
                            </m:r>
                            <m:r>
                              <a:rPr lang="en-US" altLang="ko-KR" sz="2400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24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sz="24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24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β</m:t>
                    </m:r>
                    <m:r>
                      <a:rPr lang="en-US" altLang="ko-KR" sz="24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ko-KR" altLang="ko-KR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ko-KR" altLang="ko-KR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((</m:t>
                            </m:r>
                            <m:d>
                              <m:dPr>
                                <m:begChr m:val="‖"/>
                                <m:endChr m:val="‖"/>
                                <m:ctrlPr>
                                  <a:rPr lang="ko-KR" altLang="ko-KR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ko-KR" altLang="ko-KR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ko-KR" altLang="ko-KR" sz="24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4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맑은 고딕" panose="020B0503020000020004" pitchFamily="50" charset="-127"/>
                                            <a:cs typeface="Times New Roman" panose="02020603050405020304" pitchFamily="18" charset="0"/>
                                          </a:rPr>
                                          <m:t>𝐅</m:t>
                                        </m:r>
                                      </m:e>
                                      <m:sup>
                                        <m:r>
                                          <a:rPr lang="en-US" altLang="ko-KR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맑은 고딕" panose="020B0503020000020004" pitchFamily="50" charset="-127"/>
                                            <a:cs typeface="Times New Roman" panose="02020603050405020304" pitchFamily="18" charset="0"/>
                                          </a:rPr>
                                          <m:t>𝑡𝑜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en-US" altLang="ko-KR" sz="24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24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ko-KR" sz="24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𝑙</m:t>
                            </m:r>
                            <m:r>
                              <a:rPr lang="en-US" altLang="ko-KR" sz="24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24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24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ko-KR" altLang="ko-KR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ko-KR" altLang="ko-KR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ko-KR" altLang="ko-KR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ko-KR" altLang="ko-KR" sz="24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4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맑은 고딕" panose="020B0503020000020004" pitchFamily="50" charset="-127"/>
                                            <a:cs typeface="Times New Roman" panose="02020603050405020304" pitchFamily="18" charset="0"/>
                                          </a:rPr>
                                          <m:t>𝐅</m:t>
                                        </m:r>
                                      </m:e>
                                      <m:sup>
                                        <m:r>
                                          <a:rPr lang="en-US" altLang="ko-KR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맑은 고딕" panose="020B0503020000020004" pitchFamily="50" charset="-127"/>
                                            <a:cs typeface="Times New Roman" panose="02020603050405020304" pitchFamily="18" charset="0"/>
                                          </a:rPr>
                                          <m:t>𝑡𝑜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en-US" altLang="ko-KR" sz="24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24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ko-KR" sz="24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</m:d>
                      </m:e>
                      <m:sup>
                        <m:r>
                          <a:rPr lang="en-US" altLang="ko-KR" sz="24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4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ko-KR" sz="24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endParaRPr lang="ko-KR" altLang="ko-KR" sz="24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2C031EB-7925-4E9E-9EB8-776C66423E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0117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67ABD-D528-4632-82F9-F6884787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FAR 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37DD84B-1304-4319-945F-9C1BD43310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800" b="1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Algorithm</a:t>
                </a: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유저 </a:t>
                </a: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a, b </a:t>
                </a:r>
                <a:r>
                  <a:rPr lang="ko-KR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간의 점수 예측</a:t>
                </a:r>
              </a:p>
              <a:p>
                <a:pPr marL="0" indent="0" algn="just" latinLnBrk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Input: </a:t>
                </a:r>
                <a:r>
                  <a:rPr lang="ko-KR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훈련된 </a:t>
                </a: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feature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ko-KR" sz="1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800" b="1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𝐅</m:t>
                        </m:r>
                      </m:e>
                      <m:sup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𝑓𝑟𝑜𝑚</m:t>
                        </m:r>
                      </m:sup>
                    </m:sSup>
                  </m:oMath>
                </a14:m>
                <a:r>
                  <a:rPr lang="en-US" altLang="ko-KR" sz="1800" b="1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ko-KR" sz="18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800" b="1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𝐅</m:t>
                        </m:r>
                      </m:e>
                      <m:sup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𝑡𝑜</m:t>
                        </m:r>
                      </m:sup>
                    </m:sSup>
                  </m:oMath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 algn="just" latinLnBrk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Output: top-k recommendations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 algn="just" latinLnBrk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←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ko-KR" altLang="ko-KR" sz="18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b="1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altLang="ko-KR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𝑓𝑟𝑜𝑚</m:t>
                            </m:r>
                          </m:sup>
                        </m:sSup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ko-KR" altLang="ko-KR" sz="18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ko-KR" altLang="ko-KR" sz="1800" b="1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0" b="1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𝐅</m:t>
                                </m:r>
                              </m:e>
                              <m:sup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𝑡𝑜</m:t>
                                </m:r>
                              </m:sup>
                            </m:sSup>
                          </m:e>
                          <m:sub>
                            <m:r>
                              <a:rPr lang="en-US" altLang="ko-KR" sz="1800" b="1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sub>
                        </m:sSub>
                      </m:e>
                      <m:sup>
                        <m:r>
                          <m:rPr>
                            <m:sty m:val="p"/>
                          </m:rPr>
                          <a:rPr lang="en-US" altLang="ko-KR" sz="1800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 algn="just" latinLnBrk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←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ko-KR" altLang="ko-KR" sz="18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0" b="1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altLang="ko-KR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𝑓𝑟𝑜𝑚</m:t>
                            </m:r>
                          </m:sup>
                        </m:sSup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sz="1800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ko-KR" altLang="ko-KR" sz="1800" b="1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ko-KR" altLang="ko-KR" sz="1800" b="1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0" b="1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𝐅</m:t>
                                </m:r>
                              </m:e>
                              <m:sup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𝑡𝑜</m:t>
                                </m:r>
                              </m:sup>
                            </m:sSup>
                          </m:e>
                          <m:sub>
                            <m:r>
                              <a:rPr lang="en-US" altLang="ko-KR" sz="1800" b="1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sub>
                        </m:sSub>
                      </m:e>
                      <m:sup>
                        <m:r>
                          <m:rPr>
                            <m:sty m:val="p"/>
                          </m:rPr>
                          <a:rPr lang="en-US" altLang="ko-KR" sz="1800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 algn="just" latinLnBrk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ko-KR" altLang="ko-KR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𝑠𝑐𝑜𝑟𝑒</m:t>
                            </m:r>
                          </m:e>
                          <m:sub>
                            <m:r>
                              <a:rPr lang="en-US" altLang="ko-KR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altLang="ko-KR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ko-KR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then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 algn="just" latinLnBrk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𝑟𝑒𝑐𝑖𝑝𝑟𝑜𝑐𝑎𝑙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←0</m:t>
                    </m:r>
                  </m:oMath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 algn="just" latinLnBrk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else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 algn="just" latinLnBrk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𝑟𝑒𝑐𝑖𝑝𝑟𝑜𝑐𝑎𝑙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←</m:t>
                    </m:r>
                    <m:f>
                      <m:f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ko-KR" altLang="ko-KR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ko-KR" altLang="ko-KR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𝑠𝑐𝑜𝑟𝑒</m:t>
                                </m:r>
                              </m:e>
                              <m:sub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ko-KR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ko-KR" altLang="ko-KR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ko-KR" altLang="ko-KR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𝑠𝑐𝑜𝑟𝑒</m:t>
                                </m:r>
                              </m:e>
                              <m:sub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ko-KR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 algn="just" latinLnBrk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Recs </a:t>
                </a:r>
                <a14:m>
                  <m:oMath xmlns:m="http://schemas.openxmlformats.org/officeDocument/2006/math"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←</m:t>
                    </m:r>
                  </m:oMath>
                </a14:m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Recs + (b,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𝑟𝑒𝑐𝑖𝑝𝑟𝑜𝑐𝑎𝑙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)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 algn="just" latinLnBrk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sort Recs and return top-k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37DD84B-1304-4319-945F-9C1BD43310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5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855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E59D5-0B8F-42D4-904F-FF255770E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Metrics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BF5A1B4-7459-4D06-9500-095517BC51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kern="100" dirty="0"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평</a:t>
                </a:r>
                <a14:m>
                  <m:oMath xmlns:m="http://schemas.openxmlformats.org/officeDocument/2006/math">
                    <m:r>
                      <a:rPr lang="ko-KR" altLang="en-US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균</m:t>
                    </m:r>
                    <m:r>
                      <a:rPr lang="ko-KR" altLang="en-US" i="1" kern="10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오</m:t>
                    </m:r>
                    <m:r>
                      <a:rPr lang="ko-KR" altLang="en-US" i="1" kern="10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차</m:t>
                    </m:r>
                    <m:r>
                      <a:rPr lang="en-US" altLang="ko-KR" b="0" i="1" kern="100" smtClean="0"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ko-KR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ko-KR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ko-KR" altLang="ko-KR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b="1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𝐑</m:t>
                        </m:r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∙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ko-KR" altLang="ko-KR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en-US" altLang="ko-KR" b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R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ko-KR" altLang="ko-KR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ko-KR" altLang="ko-KR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ko-KR" altLang="ko-KR" b="1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1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𝐅</m:t>
                                    </m:r>
                                  </m:e>
                                  <m:sup>
                                    <m:r>
                                      <a:rPr lang="en-US" altLang="ko-KR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𝑓𝑟𝑜𝑚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ko-KR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altLang="ko-KR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ko-KR" altLang="ko-KR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ko-KR" altLang="ko-KR" b="1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ko-KR" altLang="ko-KR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맑은 고딕" panose="020B0503020000020004" pitchFamily="50" charset="-127"/>
                                            <a:cs typeface="Times New Roman" panose="02020603050405020304" pitchFamily="18" charset="0"/>
                                          </a:rPr>
                                          <m:t>𝐅</m:t>
                                        </m:r>
                                      </m:e>
                                      <m:sup>
                                        <m:r>
                                          <a:rPr lang="en-US" altLang="ko-KR" i="1" kern="100">
                                            <a:effectLst/>
                                            <a:latin typeface="Cambria Math" panose="02040503050406030204" pitchFamily="18" charset="0"/>
                                            <a:ea typeface="맑은 고딕" panose="020B0503020000020004" pitchFamily="50" charset="-127"/>
                                            <a:cs typeface="Times New Roman" panose="02020603050405020304" pitchFamily="18" charset="0"/>
                                          </a:rPr>
                                          <m:t>𝑡𝑜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a:rPr lang="en-US" altLang="ko-KR" b="1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ko-KR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en-US" altLang="ko-KR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ko-KR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ko-KR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R</m:t>
                            </m:r>
                            <m:r>
                              <a:rPr lang="en-US" altLang="ko-KR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ko-KR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ko-KR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ko-KR" b="1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𝐑</m:t>
                    </m:r>
                    <m:r>
                      <a:rPr lang="en-US" altLang="ko-KR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𝐑</m:t>
                    </m:r>
                  </m:oMath>
                </a14:m>
                <a:r>
                  <a:rPr lang="ko-KR" altLang="en-US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에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포함된 데이터의 수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ko-KR" altLang="en-US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시스템이 얼마나 정확하게 예측할 수 있는지 평가하는 지표이다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.</a:t>
                </a:r>
                <a:endParaRPr lang="ko-KR" altLang="ko-KR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dirty="0">
                    <a:effectLst/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top-k</a:t>
                </a:r>
                <a:r>
                  <a:rPr lang="ko-KR" altLang="ko-KR" dirty="0">
                    <a:effectLst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에 포함된 횟수 중 일정 크기 이상인 것의 개수를 센다</a:t>
                </a:r>
                <a:r>
                  <a:rPr lang="en-US" altLang="ko-KR" dirty="0">
                    <a:effectLst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.(</a:t>
                </a:r>
                <a:r>
                  <a:rPr lang="ko-KR" altLang="en-US" dirty="0">
                    <a:effectLst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본 연구의 경우 </a:t>
                </a:r>
                <a:r>
                  <a:rPr lang="en-US" altLang="ko-KR" dirty="0">
                    <a:effectLst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1 </a:t>
                </a:r>
                <a:r>
                  <a:rPr lang="ko-KR" altLang="en-US" dirty="0">
                    <a:effectLst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이상</a:t>
                </a:r>
                <a:r>
                  <a:rPr lang="en-US" altLang="ko-KR" dirty="0">
                    <a:effectLst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ko-KR" altLang="en-US" dirty="0"/>
                  <a:t>유저가 골고루 추천 되었는지 평가하는 지표이다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BF5A1B4-7459-4D06-9500-095517BC5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2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45B4CD9-53DA-49CA-A12C-9595FE77D0CE}"/>
              </a:ext>
            </a:extLst>
          </p:cNvPr>
          <p:cNvSpPr txBox="1"/>
          <p:nvPr/>
        </p:nvSpPr>
        <p:spPr>
          <a:xfrm>
            <a:off x="5637320" y="297401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9292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60EC23-AFB5-4B82-A156-D5A2381C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Results</a:t>
            </a:r>
            <a:endParaRPr lang="ko-KR" altLang="en-US" dirty="0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CB76B61E-0327-4596-AC95-385B1CF1D2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2264369"/>
              </p:ext>
            </p:extLst>
          </p:nvPr>
        </p:nvGraphicFramePr>
        <p:xfrm>
          <a:off x="838200" y="1846554"/>
          <a:ext cx="2277862" cy="3275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내용 개체 틀 5">
            <a:extLst>
              <a:ext uri="{FF2B5EF4-FFF2-40B4-BE49-F238E27FC236}">
                <a16:creationId xmlns:a16="http://schemas.microsoft.com/office/drawing/2014/main" id="{C9CD5365-0085-4C7C-9547-377D15639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0841987"/>
              </p:ext>
            </p:extLst>
          </p:nvPr>
        </p:nvGraphicFramePr>
        <p:xfrm>
          <a:off x="3335301" y="1846555"/>
          <a:ext cx="2277862" cy="3275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E42815C-7143-49E1-AF03-376D00FD2DE0}"/>
              </a:ext>
            </a:extLst>
          </p:cNvPr>
          <p:cNvSpPr txBox="1"/>
          <p:nvPr/>
        </p:nvSpPr>
        <p:spPr>
          <a:xfrm>
            <a:off x="838200" y="5370990"/>
            <a:ext cx="8185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지표 </a:t>
            </a:r>
            <a:r>
              <a:rPr lang="en-US" altLang="ko-KR" dirty="0"/>
              <a:t>1</a:t>
            </a:r>
            <a:r>
              <a:rPr lang="ko-KR" altLang="en-US" dirty="0"/>
              <a:t>에 대해서는 </a:t>
            </a:r>
            <a:r>
              <a:rPr lang="en-US" altLang="ko-KR" dirty="0"/>
              <a:t>FAR</a:t>
            </a:r>
            <a:r>
              <a:rPr lang="ko-KR" altLang="en-US" dirty="0"/>
              <a:t>이 </a:t>
            </a:r>
            <a:r>
              <a:rPr lang="en-US" altLang="ko-KR" dirty="0"/>
              <a:t>LFRR</a:t>
            </a:r>
            <a:r>
              <a:rPr lang="ko-KR" altLang="en-US" dirty="0"/>
              <a:t>보다 </a:t>
            </a:r>
            <a:r>
              <a:rPr lang="en-US" altLang="ko-KR" dirty="0"/>
              <a:t>0</a:t>
            </a:r>
            <a:r>
              <a:rPr lang="ko-KR" altLang="en-US" dirty="0"/>
              <a:t>에 먼 값이 나와 조금 정확도가 떨어진 것을 알 수 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지표 </a:t>
            </a:r>
            <a:r>
              <a:rPr lang="en-US" altLang="ko-KR" dirty="0"/>
              <a:t>2</a:t>
            </a:r>
            <a:r>
              <a:rPr lang="ko-KR" altLang="en-US" dirty="0"/>
              <a:t>는 </a:t>
            </a:r>
            <a:r>
              <a:rPr lang="en-US" altLang="ko-KR" dirty="0"/>
              <a:t>FAR</a:t>
            </a:r>
            <a:r>
              <a:rPr lang="ko-KR" altLang="en-US" dirty="0"/>
              <a:t>이 </a:t>
            </a:r>
            <a:r>
              <a:rPr lang="en-US" altLang="ko-KR" dirty="0"/>
              <a:t>LFRR</a:t>
            </a:r>
            <a:r>
              <a:rPr lang="ko-KR" altLang="en-US" dirty="0"/>
              <a:t>에 비해 두 배 가까이 높다</a:t>
            </a:r>
            <a:r>
              <a:rPr lang="en-US" altLang="ko-KR" dirty="0"/>
              <a:t>. </a:t>
            </a:r>
            <a:r>
              <a:rPr lang="ko-KR" altLang="en-US" dirty="0" err="1"/>
              <a:t>분배력이</a:t>
            </a:r>
            <a:r>
              <a:rPr lang="ko-KR" altLang="en-US" dirty="0"/>
              <a:t> 향상된 것을 확인할 수 있다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0770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751D5-199E-4915-9744-05CB283E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Conclusions and Future Work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55DA-BE2A-4E27-A22A-76B11CD4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5994"/>
          </a:xfrm>
        </p:spPr>
        <p:txBody>
          <a:bodyPr>
            <a:normAutofit/>
          </a:bodyPr>
          <a:lstStyle/>
          <a:p>
            <a:r>
              <a:rPr lang="ko-KR" altLang="en-US" dirty="0"/>
              <a:t>지표를 통해 성과를 확인할 수 있었다</a:t>
            </a:r>
            <a:r>
              <a:rPr lang="en-US" altLang="ko-KR" dirty="0"/>
              <a:t>. </a:t>
            </a:r>
            <a:r>
              <a:rPr lang="ko-KR" altLang="en-US" dirty="0"/>
              <a:t>기존 방식에 비해 정확도가 비교적 떨어지긴 했지만</a:t>
            </a:r>
            <a:r>
              <a:rPr lang="en-US" altLang="ko-KR" dirty="0"/>
              <a:t>, </a:t>
            </a:r>
            <a:r>
              <a:rPr lang="ko-KR" altLang="en-US" dirty="0"/>
              <a:t>추천을 받은 사람의 수가 늘어나고 극단적으로 많은 추천을 받은 사람의 수는 감소했다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non-negative </a:t>
            </a:r>
            <a:r>
              <a:rPr lang="ko-KR" altLang="en-US" dirty="0"/>
              <a:t>조건이나 상호적인 효과가 동등하다는 가정 등을 두었다</a:t>
            </a:r>
            <a:r>
              <a:rPr lang="en-US" altLang="ko-KR" dirty="0"/>
              <a:t>. </a:t>
            </a:r>
            <a:r>
              <a:rPr lang="ko-KR" altLang="en-US" dirty="0"/>
              <a:t>또한 더 다양한 </a:t>
            </a:r>
            <a:r>
              <a:rPr lang="en-US" altLang="ko-KR" dirty="0"/>
              <a:t>hyperparameter</a:t>
            </a:r>
            <a:r>
              <a:rPr lang="ko-KR" altLang="en-US" dirty="0"/>
              <a:t>를 시험하지 못했다는 한계가 있었다</a:t>
            </a:r>
            <a:r>
              <a:rPr lang="en-US" altLang="ko-KR" dirty="0"/>
              <a:t>. </a:t>
            </a:r>
            <a:r>
              <a:rPr lang="ko-KR" altLang="en-US" dirty="0"/>
              <a:t>후속 연구에서는 다양한 조건 속에서 더 정확하고 풍부한 데이터를 활용하면 좋을 것이다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40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1618</TotalTime>
  <Words>507</Words>
  <Application>Microsoft Office PowerPoint</Application>
  <PresentationFormat>와이드스크린</PresentationFormat>
  <Paragraphs>59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Cambria Math</vt:lpstr>
      <vt:lpstr>Office 테마</vt:lpstr>
      <vt:lpstr>Reciprocal Recommender System with Capacity Condition</vt:lpstr>
      <vt:lpstr>Introduction</vt:lpstr>
      <vt:lpstr>Related Works - LFRR</vt:lpstr>
      <vt:lpstr>LFRR Algorithm</vt:lpstr>
      <vt:lpstr>Feature Averaging Regularization(FAR)</vt:lpstr>
      <vt:lpstr>FAR Algorithm</vt:lpstr>
      <vt:lpstr>Evaluation Metrics</vt:lpstr>
      <vt:lpstr>Evaluation Results</vt:lpstr>
      <vt:lpstr>Conclusions and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Latent Factor Models and Aggregation Operators for Collaborative Filtering in Reciprocal Recommender Systems</dc:title>
  <dc:creator>박범규</dc:creator>
  <cp:lastModifiedBy>박범규</cp:lastModifiedBy>
  <cp:revision>42</cp:revision>
  <dcterms:created xsi:type="dcterms:W3CDTF">2021-02-22T04:50:32Z</dcterms:created>
  <dcterms:modified xsi:type="dcterms:W3CDTF">2021-06-24T13:31:03Z</dcterms:modified>
</cp:coreProperties>
</file>